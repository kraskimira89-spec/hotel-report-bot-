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4" r:id="rId7"/>
    <p:sldId id="265" r:id="rId8"/>
    <p:sldId id="266" r:id="rId9"/>
    <p:sldId id="261" r:id="rId10"/>
    <p:sldId id="262" r:id="rId11"/>
    <p:sldId id="267" r:id="rId12"/>
    <p:sldId id="263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10"/>
  </p:normalViewPr>
  <p:slideViewPr>
    <p:cSldViewPr snapToGrid="0" snapToObjects="1">
      <p:cViewPr varScale="1">
        <p:scale>
          <a:sx n="79" d="100"/>
          <a:sy n="79" d="100"/>
        </p:scale>
        <p:origin x="85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568527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Здравствуйте! Рад показать вам систему, которую мы создали специально для «Первого Апарт-отеля». Это ваш личный помощник, который каждый день собирает данные, считает показатели и подсказывает, что делать. Давайте я покажу, как это облегчит вашу работу.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Давайте честно: управление «на глаз» отнимает и время, и деньги. Каждый день — час-два на сведение таблиц. Цены и загрузка меняются, а решения приходят с опозданием. Данные разбросаны по разным местам, и общей картины нет. Знакомо, правда?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И вот что мы сделали — сервис, который работает за вас. Каждое утро короткая сводка со «светофором» приходит прямо в мессенджер. Каждую неделю — подробный отчёт на почту. А в любой момент открываете личный кабинет с ИИ-аналитикой. Всё само, без ручной работы.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Работает всё просто и понятно. Сначала система берёт данные из ваших источников — таблиц, сайта, TravelLine. Потом считает загрузку, доход, каналы продаж и добавляет ИИ-анализ. И в конце присылает готовый результат — в мессенджер, на почту и в ленту аналитики. Менять привычную работу не нужно.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ИИ читает ваши данные и рынок и говорит по-человечески. Пример: загрузка на выходных ниже будней — и сразу понятная рекомендация, что проверить. Без формул — вывод и действие.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C14F323B-377F-FD51-14FC-DC4D8F2B0559}"/>
              </a:ext>
            </a:extLst>
          </p:cNvPr>
          <p:cNvSpPr/>
          <p:nvPr/>
        </p:nvSpPr>
        <p:spPr>
          <a:xfrm>
            <a:off x="457200" y="457200"/>
            <a:ext cx="8229600" cy="6400800"/>
          </a:xfrm>
          <a:prstGeom prst="rect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/>
              <a:t>Прогноз — не отчёт за вчера, а инструмент на 7–180 дней вперёд. Система показывает загрузку, ADR, RevPAR, сценарии и достоверность. На графике — реальные данные из раздела «Прогноз» с диапазоном неопределённости.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478DF62C-6551-62FF-486A-2079A7EDD899}"/>
              </a:ext>
            </a:extLst>
          </p:cNvPr>
          <p:cNvSpPr/>
          <p:nvPr/>
        </p:nvSpPr>
        <p:spPr>
          <a:xfrm>
            <a:off x="457200" y="457200"/>
            <a:ext cx="8229600" cy="6400800"/>
          </a:xfrm>
          <a:prstGeom prst="rect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/>
              <a:t>Система отслеживает события Томска — конференции, концерты, спорт. Каждое оценивается по масштабу и вероятности приезда гостей. Это сигнал для проверки цен, а не автоматическая смена тарифа.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A264C9E4-111F-2914-581F-B13895447F39}"/>
              </a:ext>
            </a:extLst>
          </p:cNvPr>
          <p:cNvSpPr/>
          <p:nvPr/>
        </p:nvSpPr>
        <p:spPr>
          <a:xfrm>
            <a:off x="457200" y="457200"/>
            <a:ext cx="8229600" cy="6400800"/>
          </a:xfrm>
          <a:prstGeom prst="rect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/>
              <a:t>Рекомендация — не просто цифра, а готовая инструкция: что происходит, что сделать, как проверить результат и что делать при отклонении. Карточку можно принять, отложить, назначить сотруднику и выгрузить в Word. Автоматической смены цен в TravelLine нет.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Что это даёт? Десять–пятнадцать минут вместо двух часов каждый день. Цель — больше выручки за счёт своевременных решений, а не обещание процентов до завершения пилота. Вся доходность — на одном экране.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Реализовано: админка, прогноз, рекомендации, события, Word и ИИ. В пилоте — накопление истории TravelLine и проверка точности. Следующий шаг — тестовый прогон две недели и сверка с фактом.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D0290749-7B1B-340A-632A-EE9AD45185C2}"/>
              </a:ext>
            </a:extLst>
          </p:cNvPr>
          <p:cNvSpPr/>
          <p:nvPr/>
        </p:nvSpPr>
        <p:spPr>
          <a:xfrm>
            <a:off x="457200" y="457200"/>
            <a:ext cx="8229600" cy="6400800"/>
          </a:xfrm>
          <a:prstGeom prst="rect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/>
              <a:t>Ближайший этап — калибровка прогноза и Max-бот для сотрудников. Дальше — персональные предложения, прямые брони и отзывы. Полуавтоматическое управление тарифами — только после подтверждения точности модели на пилоте, не как уже работающая функция.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Готовы перейти к пилотному запуску. Следующий шаг — подключить TravelLine, провести тестовый период, сверить прогноз с фактом и перейти к регулярной работе. Спасибо за внимание!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C19B6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731520" y="1107006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400" dirty="0">
                <a:solidFill>
                  <a:srgbClr val="C19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ПЕРВЫЙ АПАРТ-ОТЕЛЬ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1520" y="1564206"/>
            <a:ext cx="108813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Система автоматической</a:t>
            </a:r>
            <a:endParaRPr lang="en-US" sz="46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отчётности и ИИ-аналитики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731520" y="3484446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2400" dirty="0">
                <a:solidFill>
                  <a:srgbClr val="EDE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Автоматический сбор данных, ежедневные сводки и умные рекомендации для управления доходностью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61050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CB1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Презентация для заказчика · Июль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A98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 ЧЕГО МЫ НАЧИНАЛИ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72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B1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Управление «на глаз» отнимает время и деньги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8813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6DDC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128016" cy="1005840"/>
          </a:xfrm>
          <a:prstGeom prst="rect">
            <a:avLst/>
          </a:prstGeom>
          <a:solidFill>
            <a:srgbClr val="C19B6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960120" y="2057400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B17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Рутина каждый день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663440" y="2057400"/>
            <a:ext cx="6675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1–2 часа на ручное сведение таблиц по загрузке, ценам и броням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640080" y="3108960"/>
            <a:ext cx="108813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6DDC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640080" y="3108960"/>
            <a:ext cx="128016" cy="1005840"/>
          </a:xfrm>
          <a:prstGeom prst="rect">
            <a:avLst/>
          </a:prstGeom>
          <a:solidFill>
            <a:srgbClr val="C19B6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960120" y="3200400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B17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Решения с опозданием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4663440" y="3200400"/>
            <a:ext cx="6675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цены и загрузка меняются ежедневно, а реакция — постфактум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640080" y="4251960"/>
            <a:ext cx="108813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6DDC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640080" y="4251960"/>
            <a:ext cx="128016" cy="1005840"/>
          </a:xfrm>
          <a:prstGeom prst="rect">
            <a:avLst/>
          </a:prstGeom>
          <a:solidFill>
            <a:srgbClr val="C19B6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960120" y="4343400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B17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Данные разрознены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4663440" y="4343400"/>
            <a:ext cx="6675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Google-таблицы, TravelLine, сайт — всё в разных местах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640080" y="5394960"/>
            <a:ext cx="108813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6DDC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Shape 15"/>
          <p:cNvSpPr/>
          <p:nvPr/>
        </p:nvSpPr>
        <p:spPr>
          <a:xfrm>
            <a:off x="640080" y="5394960"/>
            <a:ext cx="128016" cy="1005840"/>
          </a:xfrm>
          <a:prstGeom prst="rect">
            <a:avLst/>
          </a:prstGeom>
          <a:solidFill>
            <a:srgbClr val="C19B6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960120" y="5486400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B17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Нет полной картины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4663440" y="5486400"/>
            <a:ext cx="6675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сложно сравнить себя с рынком и понять, где теряется выручка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Первый Апарт-отель · Система автоматической отчётности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A98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МЫ СДЕЛАЛИ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72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B1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Сервис, который работает за вас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4592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Автономная система собирает данные из ваших источников, считает показатели и присылает готовые сводки — без ручной работы.</a:t>
            </a:r>
            <a:endParaRPr lang="en-US" sz="2400" dirty="0"/>
          </a:p>
        </p:txBody>
      </p:sp>
      <p:grpSp>
        <p:nvGrpSpPr>
          <p:cNvPr id="16" name="Группа 15">
            <a:extLst>
              <a:ext uri="{FF2B5EF4-FFF2-40B4-BE49-F238E27FC236}">
                <a16:creationId xmlns:a16="http://schemas.microsoft.com/office/drawing/2014/main" id="{83C26825-D776-DCB4-630B-CE3597C8D047}"/>
              </a:ext>
            </a:extLst>
          </p:cNvPr>
          <p:cNvGrpSpPr/>
          <p:nvPr/>
        </p:nvGrpSpPr>
        <p:grpSpPr>
          <a:xfrm>
            <a:off x="502920" y="2665379"/>
            <a:ext cx="11411712" cy="3438728"/>
            <a:chOff x="502920" y="2286000"/>
            <a:chExt cx="11411712" cy="3438728"/>
          </a:xfrm>
        </p:grpSpPr>
        <p:sp>
          <p:nvSpPr>
            <p:cNvPr id="5" name="Shape 3"/>
            <p:cNvSpPr/>
            <p:nvPr/>
          </p:nvSpPr>
          <p:spPr>
            <a:xfrm>
              <a:off x="502920" y="2286000"/>
              <a:ext cx="3675888" cy="3429000"/>
            </a:xfrm>
            <a:prstGeom prst="rect">
              <a:avLst/>
            </a:prstGeom>
            <a:solidFill>
              <a:srgbClr val="121212"/>
            </a:solidFill>
            <a:ln/>
          </p:spPr>
        </p:sp>
        <p:sp>
          <p:nvSpPr>
            <p:cNvPr id="6" name="Text 4"/>
            <p:cNvSpPr/>
            <p:nvPr/>
          </p:nvSpPr>
          <p:spPr>
            <a:xfrm>
              <a:off x="640080" y="2697480"/>
              <a:ext cx="3401568" cy="8229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lnSpc>
                  <a:spcPct val="100000"/>
                </a:lnSpc>
                <a:buNone/>
              </a:pPr>
              <a:r>
                <a:rPr lang="en-US" sz="2600" b="1" dirty="0">
                  <a:solidFill>
                    <a:srgbClr val="C19B6A"/>
                  </a:solidFill>
                  <a:latin typeface="Trebuchet MS" pitchFamily="34" charset="0"/>
                  <a:ea typeface="Trebuchet MS" pitchFamily="34" charset="-122"/>
                  <a:cs typeface="Trebuchet MS" pitchFamily="34" charset="-120"/>
                </a:rPr>
                <a:t>Каждое утро</a:t>
              </a:r>
              <a:endParaRPr lang="en-US" sz="2600" dirty="0"/>
            </a:p>
          </p:txBody>
        </p:sp>
        <p:sp>
          <p:nvSpPr>
            <p:cNvPr id="7" name="Text 5"/>
            <p:cNvSpPr/>
            <p:nvPr/>
          </p:nvSpPr>
          <p:spPr>
            <a:xfrm>
              <a:off x="822960" y="3703320"/>
              <a:ext cx="3035808" cy="17373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lnSpc>
                  <a:spcPct val="125000"/>
                </a:lnSpc>
                <a:buNone/>
              </a:pPr>
              <a:r>
                <a:rPr lang="en-US" sz="1800" dirty="0">
                  <a:solidFill>
                    <a:srgbClr val="F0EAE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Короткая сводка со «светофором» в мессенджер Max: статус номеров, брони, цены</a:t>
              </a:r>
              <a:endParaRPr lang="en-US" sz="1800" dirty="0"/>
            </a:p>
          </p:txBody>
        </p:sp>
        <p:sp>
          <p:nvSpPr>
            <p:cNvPr id="8" name="Shape 6"/>
            <p:cNvSpPr/>
            <p:nvPr/>
          </p:nvSpPr>
          <p:spPr>
            <a:xfrm>
              <a:off x="4370832" y="2295728"/>
              <a:ext cx="3675888" cy="3429000"/>
            </a:xfrm>
            <a:prstGeom prst="rect">
              <a:avLst/>
            </a:prstGeom>
            <a:solidFill>
              <a:srgbClr val="121212"/>
            </a:solidFill>
            <a:ln/>
          </p:spPr>
        </p:sp>
        <p:sp>
          <p:nvSpPr>
            <p:cNvPr id="9" name="Text 7"/>
            <p:cNvSpPr/>
            <p:nvPr/>
          </p:nvSpPr>
          <p:spPr>
            <a:xfrm>
              <a:off x="4507992" y="2697480"/>
              <a:ext cx="3401568" cy="8229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lnSpc>
                  <a:spcPct val="100000"/>
                </a:lnSpc>
                <a:buNone/>
              </a:pPr>
              <a:r>
                <a:rPr lang="en-US" sz="2600" b="1" dirty="0">
                  <a:solidFill>
                    <a:srgbClr val="C19B6A"/>
                  </a:solidFill>
                  <a:latin typeface="Trebuchet MS" pitchFamily="34" charset="0"/>
                  <a:ea typeface="Trebuchet MS" pitchFamily="34" charset="-122"/>
                  <a:cs typeface="Trebuchet MS" pitchFamily="34" charset="-120"/>
                </a:rPr>
                <a:t>Каждую неделю</a:t>
              </a:r>
              <a:endParaRPr lang="en-US" sz="2600" dirty="0"/>
            </a:p>
          </p:txBody>
        </p:sp>
        <p:sp>
          <p:nvSpPr>
            <p:cNvPr id="10" name="Text 8"/>
            <p:cNvSpPr/>
            <p:nvPr/>
          </p:nvSpPr>
          <p:spPr>
            <a:xfrm>
              <a:off x="4690872" y="3703320"/>
              <a:ext cx="3035808" cy="17373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lnSpc>
                  <a:spcPct val="125000"/>
                </a:lnSpc>
                <a:buNone/>
              </a:pPr>
              <a:r>
                <a:rPr lang="en-US" sz="1800" dirty="0">
                  <a:solidFill>
                    <a:srgbClr val="F0EAE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Развёрнутый отчёт на email: загрузка, ADR, RevPAR, каналы, повторные гости</a:t>
              </a:r>
              <a:endParaRPr lang="en-US" sz="1800" dirty="0"/>
            </a:p>
          </p:txBody>
        </p:sp>
        <p:sp>
          <p:nvSpPr>
            <p:cNvPr id="11" name="Shape 9"/>
            <p:cNvSpPr/>
            <p:nvPr/>
          </p:nvSpPr>
          <p:spPr>
            <a:xfrm>
              <a:off x="8238744" y="2286000"/>
              <a:ext cx="3675888" cy="3429000"/>
            </a:xfrm>
            <a:prstGeom prst="rect">
              <a:avLst/>
            </a:prstGeom>
            <a:solidFill>
              <a:srgbClr val="121212"/>
            </a:solidFill>
            <a:ln/>
          </p:spPr>
        </p:sp>
        <p:sp>
          <p:nvSpPr>
            <p:cNvPr id="12" name="Text 10"/>
            <p:cNvSpPr/>
            <p:nvPr/>
          </p:nvSpPr>
          <p:spPr>
            <a:xfrm>
              <a:off x="8375904" y="2697480"/>
              <a:ext cx="3401568" cy="8229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lnSpc>
                  <a:spcPct val="100000"/>
                </a:lnSpc>
                <a:buNone/>
              </a:pPr>
              <a:r>
                <a:rPr lang="en-US" sz="2600" b="1" dirty="0">
                  <a:solidFill>
                    <a:srgbClr val="C19B6A"/>
                  </a:solidFill>
                  <a:latin typeface="Trebuchet MS" pitchFamily="34" charset="0"/>
                  <a:ea typeface="Trebuchet MS" pitchFamily="34" charset="-122"/>
                  <a:cs typeface="Trebuchet MS" pitchFamily="34" charset="-120"/>
                </a:rPr>
                <a:t>В любой момент</a:t>
              </a:r>
              <a:endParaRPr lang="en-US" sz="2600" dirty="0"/>
            </a:p>
          </p:txBody>
        </p:sp>
        <p:sp>
          <p:nvSpPr>
            <p:cNvPr id="13" name="Text 11"/>
            <p:cNvSpPr/>
            <p:nvPr/>
          </p:nvSpPr>
          <p:spPr>
            <a:xfrm>
              <a:off x="8558784" y="3703320"/>
              <a:ext cx="3035808" cy="17373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lnSpc>
                  <a:spcPct val="125000"/>
                </a:lnSpc>
                <a:buNone/>
              </a:pPr>
              <a:r>
                <a:rPr lang="en-US" sz="1800" dirty="0">
                  <a:solidFill>
                    <a:srgbClr val="F0EAE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Личный кабинет с ИИ-аналитикой: выводы и рекомендации на основе данных</a:t>
              </a:r>
              <a:endParaRPr lang="en-US" sz="1800" dirty="0"/>
            </a:p>
          </p:txBody>
        </p:sp>
      </p:grpSp>
      <p:sp>
        <p:nvSpPr>
          <p:cNvPr id="14" name="Text 12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Первый Апарт-отель · Система автоматической отчётности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A98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ЭТО УСТРОЕНО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72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B1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Данные превращаются в решения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74715"/>
            <a:ext cx="3383280" cy="2825885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9050">
            <a:solidFill>
              <a:srgbClr val="C19B6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914400" y="2382303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4</a:t>
            </a:r>
          </a:p>
        </p:txBody>
      </p:sp>
      <p:sp>
        <p:nvSpPr>
          <p:cNvPr id="6" name="Text 4"/>
          <p:cNvSpPr/>
          <p:nvPr/>
        </p:nvSpPr>
        <p:spPr>
          <a:xfrm>
            <a:off x="1600200" y="2382303"/>
            <a:ext cx="2286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B17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Источники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914400" y="3205263"/>
            <a:ext cx="2880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24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Google-таблицы, сайт 1apart.ru, TravelLine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3950208" y="3022383"/>
            <a:ext cx="640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C19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4416552" y="1974715"/>
            <a:ext cx="3383280" cy="2825885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9050">
            <a:solidFill>
              <a:srgbClr val="C19B6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4690872" y="2382303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4</a:t>
            </a:r>
          </a:p>
        </p:txBody>
      </p:sp>
      <p:sp>
        <p:nvSpPr>
          <p:cNvPr id="11" name="Text 9"/>
          <p:cNvSpPr/>
          <p:nvPr/>
        </p:nvSpPr>
        <p:spPr>
          <a:xfrm>
            <a:off x="5376672" y="2382303"/>
            <a:ext cx="2286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B17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Обработка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4690872" y="3205263"/>
            <a:ext cx="2880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24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Расчёт загрузки, ADR, RevPAR, каналов + ИИ-анализ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7726680" y="3022383"/>
            <a:ext cx="640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C19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200" dirty="0"/>
          </a:p>
        </p:txBody>
      </p:sp>
      <p:sp>
        <p:nvSpPr>
          <p:cNvPr id="14" name="Shape 12"/>
          <p:cNvSpPr/>
          <p:nvPr/>
        </p:nvSpPr>
        <p:spPr>
          <a:xfrm>
            <a:off x="8193024" y="1974715"/>
            <a:ext cx="3383280" cy="2825885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9050">
            <a:solidFill>
              <a:srgbClr val="C19B6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8467344" y="2382303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4</a:t>
            </a:r>
          </a:p>
        </p:txBody>
      </p:sp>
      <p:sp>
        <p:nvSpPr>
          <p:cNvPr id="16" name="Text 14"/>
          <p:cNvSpPr/>
          <p:nvPr/>
        </p:nvSpPr>
        <p:spPr>
          <a:xfrm>
            <a:off x="9153144" y="2382303"/>
            <a:ext cx="2286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B17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Доставка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8467344" y="3205263"/>
            <a:ext cx="2880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24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Сводка в Max, отчёт на email, лента аналитики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640080" y="5452352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3B17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Всё работает по расписанию и автономно — </a:t>
            </a:r>
            <a:endParaRPr lang="ru-RU" sz="2400" b="1" dirty="0">
              <a:solidFill>
                <a:srgbClr val="3B170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ctr">
              <a:buNone/>
            </a:pPr>
            <a:r>
              <a:rPr lang="en-US" sz="2400" b="1" dirty="0" err="1">
                <a:solidFill>
                  <a:srgbClr val="3B17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менять</a:t>
            </a:r>
            <a:r>
              <a:rPr lang="en-US" sz="2400" b="1" dirty="0">
                <a:solidFill>
                  <a:srgbClr val="3B17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привычную работу не нужно.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Первый Апарт-отель · Система автоматической отчётности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A98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ГЛАВНАЯ ВОЗМОЖНОСТЬ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72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B1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ИИ-аналитика вместо таблиц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459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ИИ читает ваши данные и данные рынка и </a:t>
            </a:r>
            <a:endParaRPr lang="ru-RU" sz="2400" dirty="0">
              <a:solidFill>
                <a:srgbClr val="1B1B1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ctr">
              <a:buNone/>
            </a:pPr>
            <a:r>
              <a:rPr lang="en-US" sz="2400" dirty="0" err="1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даёт</a:t>
            </a:r>
            <a:r>
              <a:rPr lang="en-US" sz="24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понятный вывод и конкретную рекомендацию.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40080" y="2402735"/>
            <a:ext cx="672084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6DDC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640080" y="2402735"/>
            <a:ext cx="128016" cy="3657600"/>
          </a:xfrm>
          <a:prstGeom prst="rect">
            <a:avLst/>
          </a:prstGeom>
          <a:solidFill>
            <a:srgbClr val="B26A0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914400" y="2539895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7A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ПРИМЕР КАРТОЧКИ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2905655"/>
            <a:ext cx="6263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3B17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Загрузка на выходные проседает на 18%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914400" y="3820055"/>
            <a:ext cx="6263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На выходных загрузка ниже будней — система подсказывает, что проверить.</a:t>
            </a:r>
          </a:p>
        </p:txBody>
      </p:sp>
      <p:sp>
        <p:nvSpPr>
          <p:cNvPr id="10" name="Shape 8"/>
          <p:cNvSpPr/>
          <p:nvPr/>
        </p:nvSpPr>
        <p:spPr>
          <a:xfrm>
            <a:off x="914400" y="4734455"/>
            <a:ext cx="6263640" cy="1188720"/>
          </a:xfrm>
          <a:prstGeom prst="rect">
            <a:avLst/>
          </a:prstGeom>
          <a:solidFill>
            <a:srgbClr val="F5EBD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1097280" y="4825895"/>
            <a:ext cx="59436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t>РЕКОМЕНДАЦИЯ: проверить тариф на выходные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635240" y="2402735"/>
            <a:ext cx="388620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6DDC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7909560" y="2585615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100" dirty="0">
                <a:solidFill>
                  <a:srgbClr val="3B17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ИИ ОТСЛЕЖИВАЕТ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909560" y="3225695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A98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8275320" y="3225695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Загрузку и доход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7909560" y="3792623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A98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275320" y="3792623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Каналы и прямые брони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7909560" y="4359551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A98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8275320" y="4359551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Цены конкурентов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7909560" y="4926479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A98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8275320" y="4926479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Тренды рынка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7909560" y="5493407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A98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8275320" y="5493407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Повторных гостей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Первый Апарт-отель · Система автоматической отчётности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411480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A9824F"/>
                </a:solidFill>
              </a:rPr>
              <a:t>📈 ПРОГНОЗ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7724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B1B1B"/>
                </a:solidFill>
              </a:rPr>
              <a:t>ПРОГНОЗ ЗАРАНЕЕ, А НЕ ОТЧЁТ ПОСЛЕ ФАКТА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508760"/>
            <a:ext cx="5486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1B1B1B"/>
                </a:solidFill>
              </a:rPr>
              <a:t>Система помогает планировать решения на 7, 14, 30 и 180 дней вперёд.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148840"/>
            <a:ext cx="5486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1B1B1B"/>
                </a:solidFill>
              </a:rPr>
              <a:t>• прогноз загрузки, ADR, RevPAR и выручки;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B1B1B"/>
                </a:solidFill>
              </a:rPr>
              <a:t>• сценарии: базовый, консервативный, оптимистичный;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B1B1B"/>
                </a:solidFill>
              </a:rPr>
              <a:t>• учёт текущих броней, темпа новых бронирований и сезонности;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B1B1B"/>
                </a:solidFill>
              </a:rPr>
              <a:t>• оценка достоверности прогноза;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B1B1B"/>
                </a:solidFill>
              </a:rPr>
              <a:t>• рекомендации по ценам для конкретной даты и категории.</a:t>
            </a:r>
          </a:p>
        </p:txBody>
      </p:sp>
      <p:pic>
        <p:nvPicPr>
          <p:cNvPr id="6" name="Picture 5" descr="forecast_ch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417320"/>
            <a:ext cx="5303520" cy="195770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6400800"/>
            <a:ext cx="7315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7A756C"/>
                </a:solidFill>
              </a:rPr>
              <a:t>Первый Апарт-отель · Система автоматической отчётности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00800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411480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A9824F"/>
                </a:solidFill>
              </a:rPr>
              <a:t>📅 СОБЫТИЯ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7724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B1B1B"/>
                </a:solidFill>
              </a:rPr>
              <a:t>СОБЫТИЯ ГОРОДА ПОМОГАЮТ УВИДЕТЬ СПРОС ЗАРАНЕЕ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508760"/>
            <a:ext cx="5486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1B1B1B"/>
                </a:solidFill>
              </a:rPr>
              <a:t>Система собирает и проверяет события Томска, которые могут влиять на спрос на проживание.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148840"/>
            <a:ext cx="5486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1B1B1B"/>
                </a:solidFill>
              </a:rPr>
              <a:t>Конференции · форумы · концерты · спорт · фестивали · праздники</a:t>
            </a:r>
          </a:p>
          <a:p>
            <a:pPr>
              <a:spcAft>
                <a:spcPts val="600"/>
              </a:spcAft>
            </a:pPr>
            <a:endParaRPr sz="1600" b="0">
              <a:solidFill>
                <a:srgbClr val="1B1B1B"/>
              </a:solidFill>
            </a:endParaRP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B1B1B"/>
                </a:solidFill>
              </a:rPr>
              <a:t>Событие оценивается по масштабу, длительности, аудитории и вероятности приезда иногородних гостей.</a:t>
            </a:r>
          </a:p>
          <a:p>
            <a:pPr>
              <a:spcAft>
                <a:spcPts val="600"/>
              </a:spcAft>
            </a:pPr>
            <a:endParaRPr sz="1600" b="0">
              <a:solidFill>
                <a:srgbClr val="1B1B1B"/>
              </a:solidFill>
            </a:endParaRP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B1B1B"/>
                </a:solidFill>
              </a:rPr>
              <a:t>Подтверждённые события отображаются в прогнозе и помогают заранее проверить цены и доступность.</a:t>
            </a:r>
          </a:p>
        </p:txBody>
      </p:sp>
      <p:pic>
        <p:nvPicPr>
          <p:cNvPr id="6" name="Picture 5" descr="events_pan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417320"/>
            <a:ext cx="5303520" cy="249546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6400800"/>
            <a:ext cx="7315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7A756C"/>
                </a:solidFill>
              </a:rPr>
              <a:t>Первый Апарт-отель · Система автоматической отчётности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00800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411480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A9824F"/>
                </a:solidFill>
              </a:rPr>
              <a:t>ВНЕДРЕНИЕ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7724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B1B1B"/>
                </a:solidFill>
              </a:rPr>
              <a:t>РЕКОМЕНДАЦИЯ — ЭТО ГОТОВАЯ ИНСТРУКЦИЯ ДЛЯ МЕНЕДЖЕРА</a:t>
            </a:r>
          </a:p>
        </p:txBody>
      </p:sp>
      <p:pic>
        <p:nvPicPr>
          <p:cNvPr id="4" name="Picture 3" descr="reco_fl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554480"/>
            <a:ext cx="3657600" cy="33045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480560" y="1600200"/>
            <a:ext cx="68580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3B170B"/>
                </a:solidFill>
              </a:rPr>
              <a:t>Каждая рекомендация отвечает на четыре вопроса: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80560" y="2057400"/>
            <a:ext cx="6858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1B1B1B"/>
                </a:solidFill>
              </a:rPr>
              <a:t>1. Что происходит и почему это важно?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1B1B1B"/>
                </a:solidFill>
              </a:rPr>
              <a:t>2. Что именно нужно сделать?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1B1B1B"/>
                </a:solidFill>
              </a:rPr>
              <a:t>3. Как проверить, что действие сработало?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1B1B1B"/>
                </a:solidFill>
              </a:rPr>
              <a:t>4. Что делать, если результат не достигнут?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4617720"/>
            <a:ext cx="10972800" cy="1234440"/>
          </a:xfrm>
          <a:prstGeom prst="rect">
            <a:avLst/>
          </a:prstGeom>
          <a:solidFill>
            <a:srgbClr val="FFFFFF"/>
          </a:solidFill>
          <a:ln>
            <a:solidFill>
              <a:srgbClr val="E8E0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4754880"/>
            <a:ext cx="10515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3B170B"/>
                </a:solidFill>
              </a:rPr>
              <a:t>💡 Карточку можно: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0749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1B1B1B"/>
                </a:solidFill>
              </a:rPr>
              <a:t>• принять или отложить;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1B1B1B"/>
                </a:solidFill>
              </a:rPr>
              <a:t>• назначить сотруднику;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1B1B1B"/>
                </a:solidFill>
              </a:rPr>
              <a:t>• отметить как выполненную;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1B1B1B"/>
                </a:solidFill>
              </a:rPr>
              <a:t>• выгрузить в Word для работы.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00800"/>
            <a:ext cx="7315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7A756C"/>
                </a:solidFill>
              </a:rPr>
              <a:t>Первый Апарт-отель · Система автоматической отчётности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00800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C19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ВАША ВЫГОДА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Что это даёт бизнесу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2148840"/>
            <a:ext cx="3675888" cy="2926080"/>
          </a:xfrm>
          <a:prstGeom prst="rect">
            <a:avLst/>
          </a:prstGeom>
          <a:solidFill>
            <a:srgbClr val="1E1E1E"/>
          </a:solidFill>
          <a:ln w="19050">
            <a:solidFill>
              <a:srgbClr val="C19B6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731520" y="246888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DCB17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10–15 мин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777240" y="3520440"/>
            <a:ext cx="312724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вместо 1–2 часов на мониторинг каждый день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370832" y="2148840"/>
            <a:ext cx="3675888" cy="2926080"/>
          </a:xfrm>
          <a:prstGeom prst="rect">
            <a:avLst/>
          </a:prstGeom>
          <a:solidFill>
            <a:srgbClr val="1E1E1E"/>
          </a:solidFill>
          <a:ln w="19050">
            <a:solidFill>
              <a:srgbClr val="C19B6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4599432" y="246888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Цель</a:t>
            </a:r>
          </a:p>
        </p:txBody>
      </p:sp>
      <p:sp>
        <p:nvSpPr>
          <p:cNvPr id="9" name="Text 7"/>
          <p:cNvSpPr/>
          <p:nvPr/>
        </p:nvSpPr>
        <p:spPr>
          <a:xfrm>
            <a:off x="4645152" y="3520440"/>
            <a:ext cx="312724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больше выручки за счёт своевременных</a:t>
            </a:r>
          </a:p>
          <a:p>
            <a:r>
              <a:t>и обоснованных решений по цене, каналам и спросу</a:t>
            </a:r>
          </a:p>
        </p:txBody>
      </p:sp>
      <p:sp>
        <p:nvSpPr>
          <p:cNvPr id="10" name="Shape 8"/>
          <p:cNvSpPr/>
          <p:nvPr/>
        </p:nvSpPr>
        <p:spPr>
          <a:xfrm>
            <a:off x="8238744" y="2148840"/>
            <a:ext cx="3675888" cy="2926080"/>
          </a:xfrm>
          <a:prstGeom prst="rect">
            <a:avLst/>
          </a:prstGeom>
          <a:solidFill>
            <a:srgbClr val="1E1E1E"/>
          </a:solidFill>
          <a:ln w="19050">
            <a:solidFill>
              <a:srgbClr val="C19B6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8467344" y="246888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DCB17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 экран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8513064" y="3520440"/>
            <a:ext cx="312724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вся доходность и рекомендации в одном месте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640080" y="55321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Меньше рутины и меньше упущенных возможностей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A98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ГДЕ МЫ СЕЙЧАС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72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Текущий статус проекта</a:t>
            </a:r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88136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6DDC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128016" cy="1325880"/>
          </a:xfrm>
          <a:prstGeom prst="rect">
            <a:avLst/>
          </a:prstGeom>
          <a:solidFill>
            <a:srgbClr val="2E7D3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960120" y="2103120"/>
            <a:ext cx="32004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✅ Реализовано</a:t>
            </a:r>
          </a:p>
        </p:txBody>
      </p:sp>
      <p:sp>
        <p:nvSpPr>
          <p:cNvPr id="7" name="Text 5"/>
          <p:cNvSpPr/>
          <p:nvPr/>
        </p:nvSpPr>
        <p:spPr>
          <a:xfrm>
            <a:off x="4297680" y="2103120"/>
            <a:ext cx="70408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Админка, отчётность, прогноз, рекомендации, конкурентный мониторинг, события Томска, Word-инструкции и ИИ-аналитика.</a:t>
            </a:r>
          </a:p>
        </p:txBody>
      </p:sp>
      <p:sp>
        <p:nvSpPr>
          <p:cNvPr id="8" name="Shape 6"/>
          <p:cNvSpPr/>
          <p:nvPr/>
        </p:nvSpPr>
        <p:spPr>
          <a:xfrm>
            <a:off x="640080" y="3429000"/>
            <a:ext cx="1088136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6DDC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640080" y="3429000"/>
            <a:ext cx="128016" cy="1325880"/>
          </a:xfrm>
          <a:prstGeom prst="rect">
            <a:avLst/>
          </a:prstGeom>
          <a:solidFill>
            <a:srgbClr val="2E7D3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960120" y="3566160"/>
            <a:ext cx="32004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⏳ В пилоте</a:t>
            </a:r>
          </a:p>
        </p:txBody>
      </p:sp>
      <p:sp>
        <p:nvSpPr>
          <p:cNvPr id="11" name="Text 9"/>
          <p:cNvSpPr/>
          <p:nvPr/>
        </p:nvSpPr>
        <p:spPr>
          <a:xfrm>
            <a:off x="4297680" y="3566160"/>
            <a:ext cx="70408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Накопление истории TravelLine, проверка точности прогноза, проверка живых источников событий и цен конкурентов.</a:t>
            </a:r>
          </a:p>
        </p:txBody>
      </p:sp>
      <p:sp>
        <p:nvSpPr>
          <p:cNvPr id="12" name="Shape 10"/>
          <p:cNvSpPr/>
          <p:nvPr/>
        </p:nvSpPr>
        <p:spPr>
          <a:xfrm>
            <a:off x="640080" y="4892040"/>
            <a:ext cx="1088136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6DDC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640080" y="4892040"/>
            <a:ext cx="128016" cy="1325880"/>
          </a:xfrm>
          <a:prstGeom prst="rect">
            <a:avLst/>
          </a:prstGeom>
          <a:solidFill>
            <a:srgbClr val="A9824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960120" y="5029200"/>
            <a:ext cx="32004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➡️ Следующий шаг</a:t>
            </a:r>
          </a:p>
        </p:txBody>
      </p:sp>
      <p:sp>
        <p:nvSpPr>
          <p:cNvPr id="15" name="Text 13"/>
          <p:cNvSpPr/>
          <p:nvPr/>
        </p:nvSpPr>
        <p:spPr>
          <a:xfrm>
            <a:off x="4297680" y="5029200"/>
            <a:ext cx="70408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Тестовый прогон 1–2 недели, сверка с TravelLine и настройка рабочих порогов.</a:t>
            </a:r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Первый Апарт-отель · Система автоматической отчётности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411480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A9824F"/>
                </a:solidFill>
              </a:rPr>
              <a:t>РАЗВИТИЕ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772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B1B1B"/>
                </a:solidFill>
              </a:rPr>
              <a:t>ПЕРСПЕКТИВЫ: ОТ АНАЛИТИКИ К УПРАВЛЯЕМОМУ РОСТУ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50876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2E7D32"/>
                </a:solidFill>
              </a:rPr>
              <a:t>Ближайший этап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8288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1B1B1B"/>
                </a:solidFill>
              </a:rPr>
              <a:t>• калибровка прогноза по фактическим бронированиям;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1B1B1B"/>
                </a:solidFill>
              </a:rPr>
              <a:t>• развитие внутреннего Max-бота для сотрудников;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1B1B1B"/>
                </a:solidFill>
              </a:rPr>
              <a:t>• регулярная проверка рекомендаций и их результатов.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10896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3B170B"/>
                </a:solidFill>
              </a:rPr>
              <a:t>Следующий этап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4290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1B1B1B"/>
                </a:solidFill>
              </a:rPr>
              <a:t>• персональные предложения повторным гостям;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1B1B1B"/>
                </a:solidFill>
              </a:rPr>
              <a:t>• усиление прямых бронирований;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1B1B1B"/>
                </a:solidFill>
              </a:rPr>
              <a:t>• анализ отзывов и обращений гостей;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1B1B1B"/>
                </a:solidFill>
              </a:rPr>
              <a:t>• расширение мониторинга конкурентов.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470916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A9824F"/>
                </a:solidFill>
              </a:rPr>
              <a:t>Долгосрочно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0292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1B1B1B"/>
                </a:solidFill>
              </a:rPr>
              <a:t>• полуавтоматическое управление тарифами только после подтверждения точности модели;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1B1B1B"/>
                </a:solidFill>
              </a:rPr>
              <a:t>• масштабирование решения на другие объекты.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00800"/>
            <a:ext cx="7315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7A756C"/>
                </a:solidFill>
              </a:rPr>
              <a:t>Первый Апарт-отель · Система автоматической отчётности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00800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C19B6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731520" y="972767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ГОТОВЫ ПЕРЕЙТИ К ПИЛОТНОМУ ЗАПУСКУ</a:t>
            </a:r>
          </a:p>
        </p:txBody>
      </p:sp>
      <p:sp>
        <p:nvSpPr>
          <p:cNvPr id="4" name="Text 2"/>
          <p:cNvSpPr/>
          <p:nvPr/>
        </p:nvSpPr>
        <p:spPr>
          <a:xfrm>
            <a:off x="731520" y="1567127"/>
            <a:ext cx="109728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Следующий шаг:</a:t>
            </a:r>
          </a:p>
          <a:p>
            <a:r>
              <a:t>подключить и проверить данные TravelLine</a:t>
            </a:r>
          </a:p>
        </p:txBody>
      </p:sp>
      <p:sp>
        <p:nvSpPr>
          <p:cNvPr id="5" name="Text 3"/>
          <p:cNvSpPr/>
          <p:nvPr/>
        </p:nvSpPr>
        <p:spPr>
          <a:xfrm>
            <a:off x="731520" y="3761687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Запустить тестовый период, сверить прогноз с фактом</a:t>
            </a:r>
          </a:p>
          <a:p>
            <a:r>
              <a:t>и перейти к регулярной работе.</a:t>
            </a:r>
          </a:p>
        </p:txBody>
      </p:sp>
      <p:sp>
        <p:nvSpPr>
          <p:cNvPr id="6" name="Text 4"/>
          <p:cNvSpPr/>
          <p:nvPr/>
        </p:nvSpPr>
        <p:spPr>
          <a:xfrm>
            <a:off x="731520" y="5224727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800" b="1" dirty="0">
                <a:solidFill>
                  <a:srgbClr val="DCB1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Сергей Богдановский · разработка и внедрение
</a:t>
            </a: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+7 909 195-04-08  ·  bogdanchik2@yandex.ru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1278</Words>
  <Application>Microsoft Office PowerPoint</Application>
  <PresentationFormat>Широкоэкранный</PresentationFormat>
  <Paragraphs>154</Paragraphs>
  <Slides>12</Slides>
  <Notes>12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6" baseType="lpstr">
      <vt:lpstr>Arial</vt:lpstr>
      <vt:lpstr>Calibri</vt:lpstr>
      <vt:lpstr>Trebuchet MS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Сергей</cp:lastModifiedBy>
  <cp:revision>4</cp:revision>
  <dcterms:created xsi:type="dcterms:W3CDTF">2026-07-15T18:26:20Z</dcterms:created>
  <dcterms:modified xsi:type="dcterms:W3CDTF">2026-07-22T07:45:59Z</dcterms:modified>
</cp:coreProperties>
</file>