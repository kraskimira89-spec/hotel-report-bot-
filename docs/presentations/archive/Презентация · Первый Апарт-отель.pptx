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26-07-15T17:30:18.21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24575 6431 0,'24'24'208,"1"25"-201,96 120 1,49 74-1,24 48 1,48 25 7,-23 48-14,23 24 7,25 25-2,-24 23 2,-1 1-1,-23-49 1,-25 1-1,0-49 0,-24-25 1,-49-97 0,-48-48 0,-25-121-1,-23-25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479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Система автоматической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отчётности и ИИ-аналитики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сбор данных, ежедневные сводки и умные рекомендации для управления доходностью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заказчика · Июль 2026</a:t>
            </a:r>
            <a:endParaRPr lang="en-US" sz="1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B99A4A6C-3BA2-DAD9-F3A7-A4ABB8BB7320}"/>
                  </a:ext>
                </a:extLst>
              </p14:cNvPr>
              <p14:cNvContentPartPr/>
              <p14:nvPr/>
            </p14:nvContentPartPr>
            <p14:xfrm>
              <a:off x="8847000" y="2315160"/>
              <a:ext cx="1092240" cy="1808640"/>
            </p14:xfrm>
          </p:contentPart>
        </mc:Choice>
        <mc:Fallback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B99A4A6C-3BA2-DAD9-F3A7-A4ABB8BB73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31160" y="2251800"/>
                <a:ext cx="1123560" cy="193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554"/>
    </mc:Choice>
    <mc:Fallback>
      <p:transition spd="slow" advTm="26554"/>
    </mc:Fallback>
  </mc:AlternateContent>
  <p:extLst>
    <p:ext uri="{3A86A75C-4F4B-4683-9AE1-C65F6400EC91}">
      <p14:laserTraceLst xmlns:p14="http://schemas.microsoft.com/office/powerpoint/2010/main">
        <p14:tracePtLst>
          <p14:tracePt t="150" x="9904413" y="2541588"/>
          <p14:tracePt t="176" x="9755188" y="2481263"/>
          <p14:tracePt t="179" x="9694863" y="2463800"/>
          <p14:tracePt t="186" x="9650413" y="2446338"/>
          <p14:tracePt t="193" x="9590088" y="2428875"/>
          <p14:tracePt t="202" x="9520238" y="2411413"/>
          <p14:tracePt t="208" x="9432925" y="2384425"/>
          <p14:tracePt t="216" x="9353550" y="2359025"/>
          <p14:tracePt t="223" x="9293225" y="2341563"/>
          <p14:tracePt t="231" x="9231313" y="2314575"/>
          <p14:tracePt t="238" x="9161463" y="2297113"/>
          <p14:tracePt t="246" x="9091613" y="2271713"/>
          <p14:tracePt t="254" x="9021763" y="2244725"/>
          <p14:tracePt t="261" x="8942388" y="2219325"/>
          <p14:tracePt t="268" x="8882063" y="2192338"/>
          <p14:tracePt t="276" x="8820150" y="2166938"/>
          <p14:tracePt t="283" x="8759825" y="2139950"/>
          <p14:tracePt t="291" x="8707438" y="2122488"/>
          <p14:tracePt t="299" x="8645525" y="2097088"/>
          <p14:tracePt t="306" x="8602663" y="2070100"/>
          <p14:tracePt t="314" x="8550275" y="2044700"/>
          <p14:tracePt t="321" x="8497888" y="2017713"/>
          <p14:tracePt t="329" x="8435975" y="1992313"/>
          <p14:tracePt t="343" x="8375650" y="1957388"/>
          <p14:tracePt t="351" x="8296275" y="1922463"/>
          <p14:tracePt t="358" x="8226425" y="1887538"/>
          <p14:tracePt t="366" x="8166100" y="1860550"/>
          <p14:tracePt t="373" x="8113713" y="1843088"/>
          <p14:tracePt t="381" x="8078788" y="1825625"/>
          <p14:tracePt t="389" x="8051800" y="1817688"/>
          <p14:tracePt t="396" x="8034338" y="1817688"/>
          <p14:tracePt t="403" x="8034338" y="1808163"/>
          <p14:tracePt t="411" x="8026400" y="1808163"/>
          <p14:tracePt t="752" x="8043863" y="1808163"/>
          <p14:tracePt t="757" x="8078788" y="1817688"/>
          <p14:tracePt t="764" x="8131175" y="1817688"/>
          <p14:tracePt t="765" x="8208963" y="1835150"/>
          <p14:tracePt t="771" x="8288338" y="1843088"/>
          <p14:tracePt t="778" x="8366125" y="1860550"/>
          <p14:tracePt t="786" x="8453438" y="1878013"/>
          <p14:tracePt t="793" x="8558213" y="1895475"/>
          <p14:tracePt t="801" x="8662988" y="1905000"/>
          <p14:tracePt t="808" x="8767763" y="1922463"/>
          <p14:tracePt t="816" x="8864600" y="1939925"/>
          <p14:tracePt t="823" x="8951913" y="1947863"/>
          <p14:tracePt t="832" x="9012238" y="1965325"/>
          <p14:tracePt t="848" x="9064625" y="1974850"/>
          <p14:tracePt t="854" x="9126538" y="1982788"/>
          <p14:tracePt t="862" x="9188450" y="2000250"/>
          <p14:tracePt t="870" x="9240838" y="2017713"/>
          <p14:tracePt t="876" x="9310688" y="2027238"/>
          <p14:tracePt t="883" x="9371013" y="2044700"/>
          <p14:tracePt t="891" x="9415463" y="2062163"/>
          <p14:tracePt t="898" x="9450388" y="2062163"/>
          <p14:tracePt t="906" x="9493250" y="2070100"/>
          <p14:tracePt t="913" x="9528175" y="2079625"/>
          <p14:tracePt t="921" x="9572625" y="2087563"/>
          <p14:tracePt t="928" x="9615488" y="2097088"/>
          <p14:tracePt t="936" x="9659938" y="2097088"/>
          <p14:tracePt t="944" x="9702800" y="2105025"/>
          <p14:tracePt t="951" x="9755188" y="2114550"/>
          <p14:tracePt t="958" x="9799638" y="2122488"/>
          <p14:tracePt t="966" x="9842500" y="2122488"/>
          <p14:tracePt t="973" x="9894888" y="2132013"/>
          <p14:tracePt t="981" x="9947275" y="2149475"/>
          <p14:tracePt t="988" x="9991725" y="2157413"/>
          <p14:tracePt t="996" x="10017125" y="2157413"/>
          <p14:tracePt t="1003" x="10052050" y="2166938"/>
          <p14:tracePt t="1011" x="10079038" y="2174875"/>
          <p14:tracePt t="1027" x="10104438" y="2174875"/>
          <p14:tracePt t="1034" x="10121900" y="2184400"/>
          <p14:tracePt t="1041" x="10148888" y="2184400"/>
          <p14:tracePt t="1048" x="10174288" y="2201863"/>
          <p14:tracePt t="1056" x="10209213" y="2209800"/>
          <p14:tracePt t="1063" x="10253663" y="2236788"/>
          <p14:tracePt t="1071" x="10288588" y="2254250"/>
          <p14:tracePt t="1078" x="10331450" y="2271713"/>
          <p14:tracePt t="1086" x="10375900" y="2297113"/>
          <p14:tracePt t="1093" x="10418763" y="2324100"/>
          <p14:tracePt t="1101" x="10453688" y="2341563"/>
          <p14:tracePt t="1108" x="10498138" y="2366963"/>
          <p14:tracePt t="1116" x="10533063" y="2393950"/>
          <p14:tracePt t="1123" x="10558463" y="2411413"/>
          <p14:tracePt t="1131" x="10585450" y="2428875"/>
          <p14:tracePt t="1139" x="10602913" y="2446338"/>
          <p14:tracePt t="1146" x="10620375" y="2454275"/>
          <p14:tracePt t="1153" x="10637838" y="2471738"/>
          <p14:tracePt t="1161" x="10655300" y="2481263"/>
          <p14:tracePt t="1168" x="10663238" y="2489200"/>
          <p14:tracePt t="1176" x="10672763" y="2506663"/>
          <p14:tracePt t="1183" x="10690225" y="2524125"/>
          <p14:tracePt t="1192" x="10707688" y="2533650"/>
          <p14:tracePt t="1198" x="10725150" y="2559050"/>
          <p14:tracePt t="1213" x="10742613" y="2576513"/>
          <p14:tracePt t="1221" x="10760075" y="2593975"/>
          <p14:tracePt t="1229" x="10777538" y="2611438"/>
          <p14:tracePt t="1236" x="10785475" y="2628900"/>
          <p14:tracePt t="1244" x="10802938" y="2646363"/>
          <p14:tracePt t="1250" x="10812463" y="2663825"/>
          <p14:tracePt t="1258" x="10820400" y="2673350"/>
          <p14:tracePt t="1266" x="10820400" y="2681288"/>
          <p14:tracePt t="1273" x="10829925" y="2698750"/>
          <p14:tracePt t="1281" x="10829925" y="2725738"/>
          <p14:tracePt t="1288" x="10829925" y="2760663"/>
          <p14:tracePt t="1296" x="10812463" y="2822575"/>
          <p14:tracePt t="1303" x="10777538" y="2917825"/>
          <p14:tracePt t="1310" x="10698163" y="3032125"/>
          <p14:tracePt t="1318" x="10610850" y="3154363"/>
          <p14:tracePt t="1326" x="10480675" y="3311525"/>
          <p14:tracePt t="1333" x="10331450" y="3486150"/>
          <p14:tracePt t="1341" x="10166350" y="3660775"/>
          <p14:tracePt t="1348" x="9999663" y="3825875"/>
          <p14:tracePt t="1356" x="9825038" y="3983038"/>
          <p14:tracePt t="1363" x="9667875" y="4132263"/>
          <p14:tracePt t="1379" x="9405938" y="4359275"/>
          <p14:tracePt t="1394" x="9318625" y="4421188"/>
          <p14:tracePt t="1401" x="9258300" y="4464050"/>
          <p14:tracePt t="1408" x="9248775" y="4473575"/>
          <p14:tracePt t="1416" x="9231313" y="4473575"/>
          <p14:tracePt t="1423" x="9223375" y="4473575"/>
          <p14:tracePt t="1430" x="9205913" y="4481513"/>
          <p14:tracePt t="1438" x="9196388" y="4481513"/>
          <p14:tracePt t="1445" x="9188450" y="4481513"/>
          <p14:tracePt t="1453" x="9178925" y="4481513"/>
          <p14:tracePt t="1461" x="9170988" y="4481513"/>
          <p14:tracePt t="1476" x="9161463" y="4481513"/>
          <p14:tracePt t="1483" x="9153525" y="4481513"/>
          <p14:tracePt t="1491" x="9144000" y="4481513"/>
          <p14:tracePt t="1498" x="9126538" y="4473575"/>
          <p14:tracePt t="1506" x="9117013" y="4464050"/>
          <p14:tracePt t="1514" x="9109075" y="4464050"/>
          <p14:tracePt t="1521" x="9099550" y="4464050"/>
          <p14:tracePt t="1536" x="9099550" y="4456113"/>
          <p14:tracePt t="1733" x="9082088" y="4456113"/>
          <p14:tracePt t="1739" x="9056688" y="4456113"/>
          <p14:tracePt t="1749" x="9029700" y="4446588"/>
          <p14:tracePt t="1754" x="9004300" y="4446588"/>
          <p14:tracePt t="1761" x="8986838" y="4438650"/>
          <p14:tracePt t="1768" x="8951913" y="4429125"/>
          <p14:tracePt t="1776" x="8907463" y="4421188"/>
          <p14:tracePt t="1783" x="8864600" y="4411663"/>
          <p14:tracePt t="1792" x="8794750" y="4403725"/>
          <p14:tracePt t="1798" x="8707438" y="4394200"/>
          <p14:tracePt t="1806" x="8602663" y="4376738"/>
          <p14:tracePt t="1813" x="8480425" y="4376738"/>
          <p14:tracePt t="1821" x="8340725" y="4368800"/>
          <p14:tracePt t="1829" x="8201025" y="4368800"/>
          <p14:tracePt t="1836" x="8034338" y="4359275"/>
          <p14:tracePt t="1843" x="7869238" y="4359275"/>
          <p14:tracePt t="1851" x="7702550" y="4351338"/>
          <p14:tracePt t="1858" x="7537450" y="4341813"/>
          <p14:tracePt t="1866" x="7370763" y="4341813"/>
          <p14:tracePt t="1873" x="7231063" y="4333875"/>
          <p14:tracePt t="1889" x="7108825" y="4324350"/>
          <p14:tracePt t="1896" x="6986588" y="4324350"/>
          <p14:tracePt t="1903" x="6864350" y="4306888"/>
          <p14:tracePt t="1911" x="6716713" y="4281488"/>
          <p14:tracePt t="1918" x="6550025" y="4246563"/>
          <p14:tracePt t="1926" x="6392863" y="4219575"/>
          <p14:tracePt t="1935" x="6280150" y="4194175"/>
          <p14:tracePt t="1941" x="6200775" y="4167188"/>
          <p14:tracePt t="1948" x="6175375" y="4159250"/>
          <p14:tracePt t="1956" x="6157913" y="4159250"/>
          <p14:tracePt t="1963" x="6140450" y="4149725"/>
          <p14:tracePt t="1971" x="6122988" y="4149725"/>
          <p14:tracePt t="1979" x="6105525" y="4149725"/>
          <p14:tracePt t="1995" x="6034088" y="4149725"/>
          <p14:tracePt t="2001" x="5991225" y="4149725"/>
          <p14:tracePt t="2008" x="5946775" y="4149725"/>
          <p14:tracePt t="2016" x="5903913" y="4149725"/>
          <p14:tracePt t="2023" x="5851525" y="4149725"/>
          <p14:tracePt t="2031" x="5781675" y="4149725"/>
          <p14:tracePt t="2039" x="5676900" y="4167188"/>
          <p14:tracePt t="2046" x="5572125" y="4176713"/>
          <p14:tracePt t="2054" x="5457825" y="4194175"/>
          <p14:tracePt t="2068" x="5335588" y="4211638"/>
          <p14:tracePt t="2076" x="5195888" y="4246563"/>
          <p14:tracePt t="2083" x="5021263" y="4271963"/>
          <p14:tracePt t="2091" x="4829175" y="4316413"/>
          <p14:tracePt t="2098" x="4646613" y="4359275"/>
          <p14:tracePt t="2107" x="4471988" y="4421188"/>
          <p14:tracePt t="2113" x="4297363" y="4491038"/>
          <p14:tracePt t="2121" x="4113213" y="4551363"/>
          <p14:tracePt t="2128" x="3921125" y="4648200"/>
          <p14:tracePt t="2136" x="3703638" y="4760913"/>
          <p14:tracePt t="2143" x="3467100" y="4892675"/>
          <p14:tracePt t="2151" x="3232150" y="5032375"/>
          <p14:tracePt t="2158" x="2995613" y="5189538"/>
          <p14:tracePt t="2167" x="2759075" y="5364163"/>
          <p14:tracePt t="2173" x="2541588" y="5530850"/>
          <p14:tracePt t="2182" x="2349500" y="5688013"/>
          <p14:tracePt t="2188" x="2182813" y="5835650"/>
          <p14:tracePt t="2196" x="2052638" y="5957888"/>
          <p14:tracePt t="2203" x="1955800" y="6072188"/>
          <p14:tracePt t="2211" x="1903413" y="6124575"/>
          <p14:tracePt t="2218" x="1895475" y="6149975"/>
          <p14:tracePt t="2226" x="1885950" y="6159500"/>
          <p14:tracePt t="2428" x="1895475" y="6159500"/>
          <p14:tracePt t="2436" x="1903413" y="6159500"/>
          <p14:tracePt t="2443" x="1920875" y="6167438"/>
          <p14:tracePt t="2451" x="1930400" y="6167438"/>
          <p14:tracePt t="2458" x="1947863" y="6176963"/>
          <p14:tracePt t="2466" x="1955800" y="6176963"/>
          <p14:tracePt t="2474" x="1965325" y="6176963"/>
          <p14:tracePt t="2481" x="1973263" y="6176963"/>
          <p14:tracePt t="2497" x="1982788" y="6184900"/>
          <p14:tracePt t="2503" x="1990725" y="6184900"/>
          <p14:tracePt t="2511" x="2008188" y="6184900"/>
          <p14:tracePt t="2518" x="2017713" y="6194425"/>
          <p14:tracePt t="2526" x="2035175" y="6194425"/>
          <p14:tracePt t="2534" x="2052638" y="6202363"/>
          <p14:tracePt t="2541" x="2070100" y="6202363"/>
          <p14:tracePt t="2548" x="2095500" y="6211888"/>
          <p14:tracePt t="2556" x="2122488" y="6219825"/>
          <p14:tracePt t="2563" x="2139950" y="6229350"/>
          <p14:tracePt t="2571" x="2165350" y="6237288"/>
          <p14:tracePt t="2578" x="2192338" y="6254750"/>
          <p14:tracePt t="2586" x="2217738" y="6264275"/>
          <p14:tracePt t="2593" x="2252663" y="6281738"/>
          <p14:tracePt t="2609" x="2287588" y="6299200"/>
          <p14:tracePt t="2616" x="2339975" y="6316663"/>
          <p14:tracePt t="2623" x="2392363" y="6334125"/>
          <p14:tracePt t="2631" x="2462213" y="6369050"/>
          <p14:tracePt t="2638" x="2506663" y="6386513"/>
          <p14:tracePt t="2646" x="2566988" y="6411913"/>
          <p14:tracePt t="2653" x="2619375" y="6429375"/>
          <p14:tracePt t="2661" x="2663825" y="6446838"/>
          <p14:tracePt t="2668" x="2689225" y="6456363"/>
          <p14:tracePt t="2676" x="2716213" y="6464300"/>
          <p14:tracePt t="2683" x="2733675" y="6473825"/>
          <p14:tracePt t="2691" x="2759075" y="6481763"/>
          <p14:tracePt t="2698" x="2776538" y="6481763"/>
          <p14:tracePt t="2707" x="2794000" y="6491288"/>
          <p14:tracePt t="2714" x="2803525" y="6491288"/>
          <p14:tracePt t="2725" x="2820988" y="6499225"/>
          <p14:tracePt t="2732" x="2828925" y="6499225"/>
          <p14:tracePt t="2736" x="2838450" y="6508750"/>
          <p14:tracePt t="2743" x="2855913" y="6508750"/>
          <p14:tracePt t="2751" x="2863850" y="6508750"/>
          <p14:tracePt t="2759" x="2863850" y="6516688"/>
          <p14:tracePt t="2766" x="2873375" y="6516688"/>
          <p14:tracePt t="2785" x="2881313" y="6516688"/>
          <p14:tracePt t="2812" x="2890838" y="6526213"/>
          <p14:tracePt t="2845" x="2898775" y="6526213"/>
          <p14:tracePt t="2891" x="2898775" y="6534150"/>
          <p14:tracePt t="2903" x="2908300" y="6534150"/>
          <p14:tracePt t="2924" x="2916238" y="6534150"/>
          <p14:tracePt t="2931" x="2925763" y="6543675"/>
          <p14:tracePt t="2946" x="2933700" y="6543675"/>
          <p14:tracePt t="2961" x="2943225" y="6543675"/>
          <p14:tracePt t="2976" x="2943225" y="6551613"/>
          <p14:tracePt t="3017" x="2951163" y="6551613"/>
          <p14:tracePt t="3028" x="2960688" y="6561138"/>
          <p14:tracePt t="3036" x="2968625" y="6561138"/>
          <p14:tracePt t="3043" x="2968625" y="6569075"/>
          <p14:tracePt t="3051" x="2978150" y="6569075"/>
          <p14:tracePt t="3059" x="2986088" y="6578600"/>
          <p14:tracePt t="3066" x="3003550" y="6586538"/>
          <p14:tracePt t="3074" x="3013075" y="6596063"/>
          <p14:tracePt t="3081" x="3021013" y="6604000"/>
          <p14:tracePt t="3088" x="3030538" y="6613525"/>
          <p14:tracePt t="3096" x="3048000" y="6621463"/>
          <p14:tracePt t="3111" x="3065463" y="6630988"/>
          <p14:tracePt t="3118" x="3082925" y="6638925"/>
          <p14:tracePt t="3126" x="3100388" y="6648450"/>
          <p14:tracePt t="3133" x="3117850" y="6665913"/>
          <p14:tracePt t="3141" x="3135313" y="6673850"/>
          <p14:tracePt t="3149" x="3152775" y="6691313"/>
          <p14:tracePt t="3156" x="3179763" y="6700838"/>
          <p14:tracePt t="3163" x="3197225" y="6708775"/>
          <p14:tracePt t="3171" x="3205163" y="6718300"/>
          <p14:tracePt t="3178" x="3214688" y="6718300"/>
          <p14:tracePt t="3186" x="3222625" y="6726238"/>
          <p14:tracePt t="3193" x="3232150" y="6735763"/>
          <p14:tracePt t="3201" x="3240088" y="6735763"/>
          <p14:tracePt t="3208" x="3249613" y="6735763"/>
          <p14:tracePt t="3216" x="3257550" y="6743700"/>
          <p14:tracePt t="3223" x="3267075" y="6743700"/>
          <p14:tracePt t="3238" x="3275013" y="6743700"/>
          <p14:tracePt t="3246" x="3275013" y="6753225"/>
          <p14:tracePt t="3254" x="3284538" y="6753225"/>
          <p14:tracePt t="3268" x="3292475" y="6753225"/>
          <p14:tracePt t="3291" x="3302000" y="6761163"/>
          <p14:tracePt t="3307" x="3309938" y="6761163"/>
          <p14:tracePt t="3359" x="3327400" y="6770688"/>
          <p14:tracePt t="3366" x="3336925" y="6778625"/>
          <p14:tracePt t="3373" x="3344863" y="6788150"/>
          <p14:tracePt t="3381" x="3362325" y="6796088"/>
          <p14:tracePt t="3388" x="3389313" y="6813550"/>
          <p14:tracePt t="3403" x="3406775" y="6831013"/>
          <p14:tracePt t="6919" x="0" y="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МЫ НАЧИНАЛИ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Управление «на глаз» отнимает время и деньги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09728" cy="9144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848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Рутина каждый день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480560" y="208483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часа на ручное сведение таблиц по загрузке, ценам и броням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109728" cy="9144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13639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с опозданием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313639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и загрузка меняются ежедневно, а реакция — постфактум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069080"/>
            <a:ext cx="109728" cy="9144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8795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разрознены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418795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TravelLine, сайт — всё в разных местах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120640"/>
            <a:ext cx="109728" cy="9144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23951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полной картины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523951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сравнить себя с рынком и понять, где теряется выручка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СДЕЛАЛИ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Сервис, который работает за вас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Автономная система собирает данные из ваших источников, считает показатели и присылает готовые сводки — без ручной работы.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538728" cy="310896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19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Каждое утро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E4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сводка со «светофором» в мессенджер Max: статус номеров, брони, цены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70832" y="2377440"/>
            <a:ext cx="3538728" cy="310896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C19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Каждую неделю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645152" y="36576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Развёрнутый отчёт на email: загрузка, ADR, RevPAR, каналы, повторные гости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1584" y="2377440"/>
            <a:ext cx="3538728" cy="310896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75904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C19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любой момент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75904" y="36576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 с ИИ-аналитикой: выводы и рекомендации на основе данных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УСТРОЕНО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Данные превращаются в решения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651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B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5156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3794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сайт 1apart.ru, TravelLine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86200" y="310896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0" y="246888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651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B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80060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3794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загрузки, ADR, RevPAR, каналов + ИИ-анализ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35240" y="310896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321040" y="246888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651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B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4964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49640" y="3794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в Max, отчёт на email, лента аналитики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работает по расписанию и автономно — менять привычную работу не нужно.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ВОЗМОЖНОСТЬ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ИИ-аналитика вместо таблиц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Искусственный интеллект читает ваши данные и данные рынка, а на выходе даёт понятный вывод и конкретную рекомендацию — как лента новостей о вашем бизнесе.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6766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514600"/>
            <a:ext cx="109728" cy="320040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517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карточки аналитики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17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Загрузка на выходные проседает на 18%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данным за 2 недели заполняемость в пятницу-субботу ниже будней, при этом цена держится на прежнем уровне.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526280"/>
            <a:ext cx="6217920" cy="1051560"/>
          </a:xfrm>
          <a:prstGeom prst="rect">
            <a:avLst/>
          </a:prstGeom>
          <a:solidFill>
            <a:srgbClr val="F5EBD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6177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kern="0" spc="10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
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Снизить тариф пт-сб на 8–10%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Запустить акцию «2+1» на выходные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251460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ОТСЛЕЖИВАЕТ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33101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33101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Загрузку и доход (ADR, RevPAR)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55280" y="37673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37673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продаж и прямые брони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55280" y="42245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42245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конкурентов Томска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955280" y="46817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6817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рынка апарт-отелей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955280" y="51389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51389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Повторных гостей и отмены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ВЫГОДА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это даёт бизнесу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38728" cy="2651760"/>
          </a:xfrm>
          <a:prstGeom prst="rect">
            <a:avLst/>
          </a:prstGeom>
          <a:solidFill>
            <a:srgbClr val="1E1E1E"/>
          </a:solidFill>
          <a:ln w="12700">
            <a:solidFill>
              <a:srgbClr val="A98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CB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10–15 мин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1–2 часов на мониторинг каждый день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70832" y="2194560"/>
            <a:ext cx="3538728" cy="2651760"/>
          </a:xfrm>
          <a:prstGeom prst="rect">
            <a:avLst/>
          </a:prstGeom>
          <a:solidFill>
            <a:srgbClr val="1E1E1E"/>
          </a:solidFill>
          <a:ln w="12700">
            <a:solidFill>
              <a:srgbClr val="A982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CB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+2–4%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645152" y="3611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среднему чеку и загрузке = заметный рост выручки за сезон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01584" y="2194560"/>
            <a:ext cx="3538728" cy="2651760"/>
          </a:xfrm>
          <a:prstGeom prst="rect">
            <a:avLst/>
          </a:prstGeom>
          <a:solidFill>
            <a:srgbClr val="1E1E1E"/>
          </a:solidFill>
          <a:ln w="12700">
            <a:solidFill>
              <a:srgbClr val="A98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75904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CB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экран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75904" y="3611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доходность и рекомендации в одном месте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рутины · меньше упущенной выручки · больше контроля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СЕЙЧАС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Система разработана и запущена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0972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305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и работает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213055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системы, админка, ИИ-аналитика, конкуренты и тренды, сбор данных, деплой на сервере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337560"/>
            <a:ext cx="10972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5021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350215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почта для отчётов, мессенджер Max, ИИ (YandexGPT)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09160"/>
            <a:ext cx="109728" cy="1234440"/>
          </a:xfrm>
          <a:prstGeom prst="rect">
            <a:avLst/>
          </a:prstGeom>
          <a:solidFill>
            <a:srgbClr val="A9824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873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шаг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487375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TravelLine и тестовый прогон 1–2 недели перед боевым режимом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ЗАПУСКАТЬ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Осталось подключить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 запустить в работу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Покажем живую систему, настроим последний источник данных и запустим ежедневные сводки для вашего апарт-отеля.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 Богдановский · разработка и внедрение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505</Words>
  <Application>Microsoft Office PowerPoint</Application>
  <PresentationFormat>Широкоэкранный</PresentationFormat>
  <Paragraphs>97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Сергей</cp:lastModifiedBy>
  <cp:revision>2</cp:revision>
  <dcterms:created xsi:type="dcterms:W3CDTF">2026-07-15T12:37:30Z</dcterms:created>
  <dcterms:modified xsi:type="dcterms:W3CDTF">2026-07-15T18:18:44Z</dcterms:modified>
</cp:coreProperties>
</file>