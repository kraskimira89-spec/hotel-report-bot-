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1" r:id="rId10"/>
    <p:sldId id="262" r:id="rId11"/>
    <p:sldId id="267" r:id="rId12"/>
    <p:sldId id="263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852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Здравствуйте! Рад показать вам систему, которую мы создали специально для «Первого Апарт-отеля». Это ваш личный помощник, который каждый день собирает данные, считает показатели и подсказывает, что делать. Давайте я покажу, как это облегчит вашу работу.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честно: управление «на глаз» отнимает и время, и деньги. Каждый день — час-два на сведение таблиц. Цены и загрузка меняются, а решения приходят с опозданием. Данные разбросаны по разным местам, и общей картины нет. Знакомо, правда?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 вот что мы сделали — сервис, который работает за вас. Каждое утро короткая сводка со «светофором» приходит прямо в мессенджер. Каждую неделю — подробный отчёт на почту. А в любой момент открываете личный кабинет с ИИ-аналитикой. Всё само, без ручной работы.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Работает всё просто и понятно. Сначала система берёт данные из ваших источников — таблиц, сайта, TravelLine. Потом считает загрузку, доход, каналы продаж и добавляет ИИ-анализ. И в конце присылает готовый результат — в мессенджер, на почту и в ленту аналитики. Менять привычную работу не нужно.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ИИ читает ваши данные и рынок и говорит по-человечески. Пример: загрузка на выходных ниже будней — и сразу понятная рекомендация, что проверить. Без формул — вывод и действие.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14F323B-377F-FD51-14FC-DC4D8F2B0559}"/>
              </a:ext>
            </a:extLst>
          </p:cNvPr>
          <p:cNvSpPr/>
          <p:nvPr/>
        </p:nvSpPr>
        <p:spPr>
          <a:xfrm>
            <a:off x="457200" y="457200"/>
            <a:ext cx="8229600" cy="6400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Прогноз — не отчёт за вчера, а инструмент на 7–180 дней вперёд. Система показывает загрузку, ADR, RevPAR, сценарии и достоверность. На графике — реальные данные из раздела «Прогноз» с диапазоном неопределённости.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78DF62C-6551-62FF-486A-2079A7EDD899}"/>
              </a:ext>
            </a:extLst>
          </p:cNvPr>
          <p:cNvSpPr/>
          <p:nvPr/>
        </p:nvSpPr>
        <p:spPr>
          <a:xfrm>
            <a:off x="457200" y="457200"/>
            <a:ext cx="8229600" cy="6400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Система отслеживает события Томска — конференции, концерты, спорт. Каждое оценивается по масштабу и вероятности приезда гостей. Это сигнал для проверки цен, а не автоматическая смена тарифа.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264C9E4-111F-2914-581F-B13895447F39}"/>
              </a:ext>
            </a:extLst>
          </p:cNvPr>
          <p:cNvSpPr/>
          <p:nvPr/>
        </p:nvSpPr>
        <p:spPr>
          <a:xfrm>
            <a:off x="457200" y="457200"/>
            <a:ext cx="8229600" cy="6400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Рекомендация — не просто цифра, а готовая инструкция: что происходит, что сделать, как проверить результат и что делать при отклонении. Карточку можно принять, отложить, назначить сотруднику и выгрузить в Word. Автоматической смены цен в TravelLine нет.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Что это даёт? Десять–пятнадцать минут вместо двух часов каждый день. Цель — больше выручки за счёт своевременных решений, а не обещание процентов до завершения пилота. Вся доходность — на одном экране.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Реализовано: админка, прогноз, рекомендации, события, Word и ИИ. В пилоте — накопление истории TravelLine и проверка точности. Следующий шаг — тестовый прогон две недели и сверка с фактом.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0290749-7B1B-340A-632A-EE9AD45185C2}"/>
              </a:ext>
            </a:extLst>
          </p:cNvPr>
          <p:cNvSpPr/>
          <p:nvPr/>
        </p:nvSpPr>
        <p:spPr>
          <a:xfrm>
            <a:off x="457200" y="457200"/>
            <a:ext cx="8229600" cy="6400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Ближайший этап — калибровка прогноза и Max-бот для сотрудников. Дальше — персональные предложения, прямые брони и отзывы. Полуавтоматическое управление тарифами — только после подтверждения точности модели на пилоте, не как уже работающая функция.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Готовы перейти к пилотному запуску. Следующий шаг — подключить TravelLine, провести тестовый период, сверить прогноз с фактом и перейти к регулярной работе. Спасибо за внимание!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slide" Target="slide6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19B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1107006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64206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Система автоматической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отчётности и ИИ-аналитики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484446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EDE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Автоматический сбор данных, ежедневные сводки и умные рекомендации для управления доходностью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6105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B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для заказчика · Июль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ЧЕГО МЫ НАЧИНАЛИ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Управление «на глаз» отнимает время и деньги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28016" cy="1005840"/>
          </a:xfrm>
          <a:prstGeom prst="rect">
            <a:avLst/>
          </a:prstGeom>
          <a:solidFill>
            <a:srgbClr val="C19B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60120" y="2057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Рутина каждый день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663440" y="20574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часа на ручное сведение таблиц по загрузке, ценам и броням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28016" cy="1005840"/>
          </a:xfrm>
          <a:prstGeom prst="rect">
            <a:avLst/>
          </a:prstGeom>
          <a:solidFill>
            <a:srgbClr val="C19B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60120" y="3200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с опозданием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63440" y="32004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и загрузка меняются ежедневно, а реакция — постфактум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128016" cy="1005840"/>
          </a:xfrm>
          <a:prstGeom prst="rect">
            <a:avLst/>
          </a:prstGeom>
          <a:solidFill>
            <a:srgbClr val="C19B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60120" y="4343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разрознены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63440" y="43434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Google-таблицы, TravelLine, сайт — всё в разных местах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" y="5394960"/>
            <a:ext cx="10881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0080" y="5394960"/>
            <a:ext cx="128016" cy="1005840"/>
          </a:xfrm>
          <a:prstGeom prst="rect">
            <a:avLst/>
          </a:prstGeom>
          <a:solidFill>
            <a:srgbClr val="C19B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60120" y="54864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полной картины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63440" y="54864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 сравнить себя с рынком и понять, где теряется выручка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МЫ СДЕЛАЛИ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Сервис, который работает за вас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Автономная система собирает данные из ваших источников, считает показатели и присылает готовые сводки — без ручной работы.</a:t>
            </a:r>
            <a:endParaRPr lang="en-US" sz="2400" dirty="0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83C26825-D776-DCB4-630B-CE3597C8D047}"/>
              </a:ext>
            </a:extLst>
          </p:cNvPr>
          <p:cNvGrpSpPr/>
          <p:nvPr/>
        </p:nvGrpSpPr>
        <p:grpSpPr>
          <a:xfrm>
            <a:off x="502920" y="2665379"/>
            <a:ext cx="11411712" cy="3438728"/>
            <a:chOff x="502920" y="2286000"/>
            <a:chExt cx="11411712" cy="3438728"/>
          </a:xfrm>
        </p:grpSpPr>
        <p:sp>
          <p:nvSpPr>
            <p:cNvPr id="5" name="Shape 3"/>
            <p:cNvSpPr/>
            <p:nvPr/>
          </p:nvSpPr>
          <p:spPr>
            <a:xfrm>
              <a:off x="502920" y="2286000"/>
              <a:ext cx="3675888" cy="3429000"/>
            </a:xfrm>
            <a:prstGeom prst="rect">
              <a:avLst/>
            </a:prstGeom>
            <a:solidFill>
              <a:srgbClr val="121212"/>
            </a:solidFill>
            <a:ln/>
          </p:spPr>
        </p:sp>
        <p:sp>
          <p:nvSpPr>
            <p:cNvPr id="6" name="Text 4"/>
            <p:cNvSpPr/>
            <p:nvPr/>
          </p:nvSpPr>
          <p:spPr>
            <a:xfrm>
              <a:off x="640080" y="2697480"/>
              <a:ext cx="3401568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600" b="1" dirty="0">
                  <a:solidFill>
                    <a:srgbClr val="C19B6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Каждое утро</a:t>
              </a:r>
              <a:endParaRPr lang="en-US" sz="2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822960" y="3703320"/>
              <a:ext cx="3035808" cy="1737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800" dirty="0">
                  <a:solidFill>
                    <a:srgbClr val="F0EA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Короткая сводка со «светофором» в мессенджер Max: статус номеров, брони, цены</a:t>
              </a:r>
              <a:endParaRPr lang="en-US" sz="18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4370832" y="2295728"/>
              <a:ext cx="3675888" cy="3429000"/>
            </a:xfrm>
            <a:prstGeom prst="rect">
              <a:avLst/>
            </a:prstGeom>
            <a:solidFill>
              <a:srgbClr val="121212"/>
            </a:solidFill>
            <a:ln/>
          </p:spPr>
        </p:sp>
        <p:sp>
          <p:nvSpPr>
            <p:cNvPr id="9" name="Text 7"/>
            <p:cNvSpPr/>
            <p:nvPr/>
          </p:nvSpPr>
          <p:spPr>
            <a:xfrm>
              <a:off x="4507992" y="2697480"/>
              <a:ext cx="3401568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600" b="1" dirty="0">
                  <a:solidFill>
                    <a:srgbClr val="C19B6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Каждую неделю</a:t>
              </a:r>
              <a:endParaRPr lang="en-US" sz="2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690872" y="3703320"/>
              <a:ext cx="3035808" cy="1737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800" dirty="0">
                  <a:solidFill>
                    <a:srgbClr val="F0EA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Развёрнутый отчёт на email: загрузка, ADR, RevPAR, каналы, повторные гости</a:t>
              </a:r>
              <a:endParaRPr lang="en-US" sz="18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8238744" y="2286000"/>
              <a:ext cx="3675888" cy="3429000"/>
            </a:xfrm>
            <a:prstGeom prst="rect">
              <a:avLst/>
            </a:prstGeom>
            <a:solidFill>
              <a:srgbClr val="121212"/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8375904" y="2697480"/>
              <a:ext cx="3401568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600" b="1" dirty="0">
                  <a:solidFill>
                    <a:srgbClr val="C19B6A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В любой момент</a:t>
              </a:r>
              <a:endParaRPr lang="en-US" sz="2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8558784" y="3703320"/>
              <a:ext cx="3035808" cy="1737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25000"/>
                </a:lnSpc>
                <a:buNone/>
              </a:pPr>
              <a:r>
                <a:rPr lang="en-US" sz="1800" dirty="0">
                  <a:solidFill>
                    <a:srgbClr val="F0EA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Личный кабинет с ИИ-аналитикой: выводы и рекомендации на основе данных</a:t>
              </a:r>
              <a:endParaRPr lang="en-US" sz="1800" dirty="0"/>
            </a:p>
          </p:txBody>
        </p:sp>
      </p:grpSp>
      <p:sp>
        <p:nvSpPr>
          <p:cNvPr id="14" name="Text 1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УСТРОЕНО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Данные превращаются в решения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74715"/>
            <a:ext cx="3383280" cy="2825885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19B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2382303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4</a:t>
            </a:r>
          </a:p>
        </p:txBody>
      </p:sp>
      <p:sp>
        <p:nvSpPr>
          <p:cNvPr id="6" name="Text 4"/>
          <p:cNvSpPr/>
          <p:nvPr/>
        </p:nvSpPr>
        <p:spPr>
          <a:xfrm>
            <a:off x="1600200" y="2382303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205263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Google-таблицы, сайт 1apart.ru, TravelLine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950208" y="3022383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416552" y="1974715"/>
            <a:ext cx="3383280" cy="2825885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19B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690872" y="2382303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4</a:t>
            </a:r>
          </a:p>
        </p:txBody>
      </p:sp>
      <p:sp>
        <p:nvSpPr>
          <p:cNvPr id="11" name="Text 9"/>
          <p:cNvSpPr/>
          <p:nvPr/>
        </p:nvSpPr>
        <p:spPr>
          <a:xfrm>
            <a:off x="5376672" y="2382303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90872" y="3205263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загрузки, ADR, RevPAR, каналов + ИИ-анализ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726680" y="3022383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8193024" y="1974715"/>
            <a:ext cx="3383280" cy="2825885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C19B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467344" y="2382303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4</a:t>
            </a:r>
          </a:p>
        </p:txBody>
      </p:sp>
      <p:sp>
        <p:nvSpPr>
          <p:cNvPr id="16" name="Text 14"/>
          <p:cNvSpPr/>
          <p:nvPr/>
        </p:nvSpPr>
        <p:spPr>
          <a:xfrm>
            <a:off x="9153144" y="2382303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Доставка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467344" y="3205263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в Max, отчёт на email, лента аналитики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" y="545235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работает по расписанию и автономно — </a:t>
            </a:r>
            <a:endParaRPr lang="ru-RU" sz="2400" b="1" dirty="0">
              <a:solidFill>
                <a:srgbClr val="3B170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2400" b="1" dirty="0" err="1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менять</a:t>
            </a:r>
            <a:r>
              <a:rPr lang="en-US" sz="2400" b="1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привычную работу не нужно.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ВОЗМОЖНОСТЬ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ИИ-аналитика вместо таблиц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читает ваши данные и данные рынка и </a:t>
            </a:r>
            <a:endParaRPr lang="ru-RU" sz="2400" dirty="0">
              <a:solidFill>
                <a:srgbClr val="1B1B1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24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</a:t>
            </a: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понятный вывод и конкретную рекомендацию.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2402735"/>
            <a:ext cx="6720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40080" y="2402735"/>
            <a:ext cx="128016" cy="3657600"/>
          </a:xfrm>
          <a:prstGeom prst="rect">
            <a:avLst/>
          </a:prstGeom>
          <a:solidFill>
            <a:srgbClr val="B26A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2539895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КАРТОЧКИ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905655"/>
            <a:ext cx="6263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3B17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Загрузка на выходные проседает на 18%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820055"/>
            <a:ext cx="6263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На выходных загрузка ниже будней — система подсказывает, что проверить.</a:t>
            </a:r>
          </a:p>
        </p:txBody>
      </p:sp>
      <p:sp>
        <p:nvSpPr>
          <p:cNvPr id="10" name="Shape 8"/>
          <p:cNvSpPr/>
          <p:nvPr/>
        </p:nvSpPr>
        <p:spPr>
          <a:xfrm>
            <a:off x="914400" y="4734455"/>
            <a:ext cx="6263640" cy="1188720"/>
          </a:xfrm>
          <a:prstGeom prst="rect">
            <a:avLst/>
          </a:prstGeom>
          <a:solidFill>
            <a:srgbClr val="F5EBD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97280" y="4825895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t>РЕКОМЕНДАЦИЯ: проверить тариф на выходные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35240" y="2402735"/>
            <a:ext cx="3886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909560" y="2585615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3B17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ОТСЛЕЖИВАЕТ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09560" y="3225695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75320" y="3225695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Загрузку и доход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909560" y="3792623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75320" y="3792623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Каналы и прямые брони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909560" y="4359551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75320" y="4359551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конкурентов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909560" y="4926479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75320" y="4926479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Тренды рынка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909560" y="5493407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75320" y="5493407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Повторных гостей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9824F"/>
                </a:solidFill>
              </a:rPr>
              <a:t>📈 ПРОГНОЗ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B1B1B"/>
                </a:solidFill>
              </a:rPr>
              <a:t>ПРОГНОЗ ЗАРАНЕЕ, А НЕ ОТЧЁТ ПОСЛЕ ФАКТА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B1B1B"/>
                </a:solidFill>
              </a:rPr>
              <a:t>Система помогает планировать решения на 7, 14, 30 и 180 дней вперёд.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</a:rPr>
              <a:t>• прогноз загрузки, ADR, RevPAR и выручки;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</a:rPr>
              <a:t>• сценарии: базовый, консервативный, оптимистичный;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</a:rPr>
              <a:t>• учёт текущих броней, темпа новых бронирований и сезонности;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</a:rPr>
              <a:t>• оценка достоверности прогноза;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1B1B"/>
                </a:solidFill>
              </a:rPr>
              <a:t>• рекомендации по ценам для конкретной даты и категории.</a:t>
            </a:r>
          </a:p>
        </p:txBody>
      </p:sp>
      <p:pic>
        <p:nvPicPr>
          <p:cNvPr id="6" name="Picture 5" descr="forecast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5303520" cy="19577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0080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A756C"/>
                </a:solidFill>
              </a:rPr>
              <a:t>Первый Апарт-отель · Система автоматической отчётности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6</a:t>
            </a: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0" name="Ссылка на слайд 9">
                <a:extLst>
                  <a:ext uri="{FF2B5EF4-FFF2-40B4-BE49-F238E27FC236}">
                    <a16:creationId xmlns:a16="http://schemas.microsoft.com/office/drawing/2014/main" id="{6D53B179-28A9-94BA-4866-8B429EBA983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79703598"/>
                  </p:ext>
                </p:extLst>
              </p:nvPr>
            </p:nvGraphicFramePr>
            <p:xfrm>
              <a:off x="-2351071" y="-30399"/>
              <a:ext cx="3048000" cy="1714500"/>
            </p:xfrm>
            <a:graphic>
              <a:graphicData uri="http://schemas.microsoft.com/office/powerpoint/2016/slidezoom">
                <pslz:sldZm>
                  <pslz:sldZmObj sldId="264" cId="0">
                    <pslz:zmPr id="{C30D07F2-BF13-4652-A95C-DB7D2EDEDC6A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0" name="Ссылка на слайд 9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6D53B179-28A9-94BA-4866-8B429EBA983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351071" y="-30399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9824F"/>
                </a:solidFill>
              </a:rPr>
              <a:t>📅 СОБЫТИЯ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B1B1B"/>
                </a:solidFill>
              </a:rPr>
              <a:t>СОБЫТИЯ ГОРОДА ПОМОГАЮТ УВИДЕТЬ СПРОС ЗАРАНЕЕ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B1B1B"/>
                </a:solidFill>
              </a:rPr>
              <a:t>Система собирает и проверяет события Томска, которые могут влиять на спрос на проживание.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dirty="0" err="1">
                <a:solidFill>
                  <a:srgbClr val="1B1B1B"/>
                </a:solidFill>
              </a:rPr>
              <a:t>Конференции</a:t>
            </a:r>
            <a:r>
              <a:rPr sz="1600" b="0" dirty="0">
                <a:solidFill>
                  <a:srgbClr val="1B1B1B"/>
                </a:solidFill>
              </a:rPr>
              <a:t> · </a:t>
            </a:r>
            <a:r>
              <a:rPr sz="1600" b="0" dirty="0" err="1">
                <a:solidFill>
                  <a:srgbClr val="1B1B1B"/>
                </a:solidFill>
              </a:rPr>
              <a:t>форумы</a:t>
            </a:r>
            <a:r>
              <a:rPr sz="1600" b="0" dirty="0">
                <a:solidFill>
                  <a:srgbClr val="1B1B1B"/>
                </a:solidFill>
              </a:rPr>
              <a:t> · </a:t>
            </a:r>
            <a:r>
              <a:rPr sz="1600" b="0" dirty="0" err="1">
                <a:solidFill>
                  <a:srgbClr val="1B1B1B"/>
                </a:solidFill>
              </a:rPr>
              <a:t>концерты</a:t>
            </a:r>
            <a:r>
              <a:rPr sz="1600" b="0" dirty="0">
                <a:solidFill>
                  <a:srgbClr val="1B1B1B"/>
                </a:solidFill>
              </a:rPr>
              <a:t> · </a:t>
            </a:r>
            <a:r>
              <a:rPr sz="1600" b="0" dirty="0" err="1">
                <a:solidFill>
                  <a:srgbClr val="1B1B1B"/>
                </a:solidFill>
              </a:rPr>
              <a:t>спорт</a:t>
            </a:r>
            <a:r>
              <a:rPr sz="1600" b="0" dirty="0">
                <a:solidFill>
                  <a:srgbClr val="1B1B1B"/>
                </a:solidFill>
              </a:rPr>
              <a:t> · </a:t>
            </a:r>
            <a:r>
              <a:rPr sz="1600" b="0" dirty="0" err="1">
                <a:solidFill>
                  <a:srgbClr val="1B1B1B"/>
                </a:solidFill>
              </a:rPr>
              <a:t>фестивали</a:t>
            </a:r>
            <a:r>
              <a:rPr sz="1600" b="0" dirty="0">
                <a:solidFill>
                  <a:srgbClr val="1B1B1B"/>
                </a:solidFill>
              </a:rPr>
              <a:t> · </a:t>
            </a:r>
            <a:r>
              <a:rPr sz="1600" b="0" dirty="0" err="1">
                <a:solidFill>
                  <a:srgbClr val="1B1B1B"/>
                </a:solidFill>
              </a:rPr>
              <a:t>праздники</a:t>
            </a:r>
            <a:endParaRPr sz="1600" b="0" dirty="0">
              <a:solidFill>
                <a:srgbClr val="1B1B1B"/>
              </a:solidFill>
            </a:endParaRPr>
          </a:p>
          <a:p>
            <a:pPr>
              <a:spcAft>
                <a:spcPts val="600"/>
              </a:spcAft>
            </a:pPr>
            <a:endParaRPr sz="1600" b="0" dirty="0">
              <a:solidFill>
                <a:srgbClr val="1B1B1B"/>
              </a:solidFill>
            </a:endParaRPr>
          </a:p>
          <a:p>
            <a:pPr>
              <a:spcAft>
                <a:spcPts val="600"/>
              </a:spcAft>
            </a:pPr>
            <a:r>
              <a:rPr sz="1600" b="0" dirty="0" err="1">
                <a:solidFill>
                  <a:srgbClr val="1B1B1B"/>
                </a:solidFill>
              </a:rPr>
              <a:t>Событие</a:t>
            </a:r>
            <a:r>
              <a:rPr sz="1600" b="0" dirty="0">
                <a:solidFill>
                  <a:srgbClr val="1B1B1B"/>
                </a:solidFill>
              </a:rPr>
              <a:t> </a:t>
            </a:r>
            <a:r>
              <a:rPr sz="1600" b="0" dirty="0" err="1">
                <a:solidFill>
                  <a:srgbClr val="1B1B1B"/>
                </a:solidFill>
              </a:rPr>
              <a:t>оценивается</a:t>
            </a:r>
            <a:r>
              <a:rPr sz="1600" b="0" dirty="0">
                <a:solidFill>
                  <a:srgbClr val="1B1B1B"/>
                </a:solidFill>
              </a:rPr>
              <a:t> </a:t>
            </a:r>
            <a:r>
              <a:rPr sz="1600" b="0" dirty="0" err="1">
                <a:solidFill>
                  <a:srgbClr val="1B1B1B"/>
                </a:solidFill>
              </a:rPr>
              <a:t>по</a:t>
            </a:r>
            <a:r>
              <a:rPr sz="1600" b="0" dirty="0">
                <a:solidFill>
                  <a:srgbClr val="1B1B1B"/>
                </a:solidFill>
              </a:rPr>
              <a:t> </a:t>
            </a:r>
            <a:r>
              <a:rPr sz="1600" b="0" dirty="0" err="1">
                <a:solidFill>
                  <a:srgbClr val="1B1B1B"/>
                </a:solidFill>
              </a:rPr>
              <a:t>масштабу</a:t>
            </a:r>
            <a:r>
              <a:rPr sz="1600" b="0" dirty="0">
                <a:solidFill>
                  <a:srgbClr val="1B1B1B"/>
                </a:solidFill>
              </a:rPr>
              <a:t>, </a:t>
            </a:r>
            <a:r>
              <a:rPr sz="1600" b="0" dirty="0" err="1">
                <a:solidFill>
                  <a:srgbClr val="1B1B1B"/>
                </a:solidFill>
              </a:rPr>
              <a:t>длительности</a:t>
            </a:r>
            <a:r>
              <a:rPr sz="1600" b="0" dirty="0">
                <a:solidFill>
                  <a:srgbClr val="1B1B1B"/>
                </a:solidFill>
              </a:rPr>
              <a:t>, </a:t>
            </a:r>
            <a:r>
              <a:rPr sz="1600" b="0" dirty="0" err="1">
                <a:solidFill>
                  <a:srgbClr val="1B1B1B"/>
                </a:solidFill>
              </a:rPr>
              <a:t>аудитории</a:t>
            </a:r>
            <a:r>
              <a:rPr sz="1600" b="0" dirty="0">
                <a:solidFill>
                  <a:srgbClr val="1B1B1B"/>
                </a:solidFill>
              </a:rPr>
              <a:t> и </a:t>
            </a:r>
            <a:r>
              <a:rPr sz="1600" b="0" dirty="0" err="1">
                <a:solidFill>
                  <a:srgbClr val="1B1B1B"/>
                </a:solidFill>
              </a:rPr>
              <a:t>вероятности</a:t>
            </a:r>
            <a:r>
              <a:rPr sz="1600" b="0" dirty="0">
                <a:solidFill>
                  <a:srgbClr val="1B1B1B"/>
                </a:solidFill>
              </a:rPr>
              <a:t> </a:t>
            </a:r>
            <a:r>
              <a:rPr sz="1600" b="0" dirty="0" err="1">
                <a:solidFill>
                  <a:srgbClr val="1B1B1B"/>
                </a:solidFill>
              </a:rPr>
              <a:t>приезда</a:t>
            </a:r>
            <a:r>
              <a:rPr sz="1600" b="0" dirty="0">
                <a:solidFill>
                  <a:srgbClr val="1B1B1B"/>
                </a:solidFill>
              </a:rPr>
              <a:t> </a:t>
            </a:r>
            <a:r>
              <a:rPr sz="1600" b="0" dirty="0" err="1">
                <a:solidFill>
                  <a:srgbClr val="1B1B1B"/>
                </a:solidFill>
              </a:rPr>
              <a:t>иногородних</a:t>
            </a:r>
            <a:r>
              <a:rPr sz="1600" b="0" dirty="0">
                <a:solidFill>
                  <a:srgbClr val="1B1B1B"/>
                </a:solidFill>
              </a:rPr>
              <a:t> </a:t>
            </a:r>
            <a:r>
              <a:rPr sz="1600" b="0" dirty="0" err="1">
                <a:solidFill>
                  <a:srgbClr val="1B1B1B"/>
                </a:solidFill>
              </a:rPr>
              <a:t>гостей</a:t>
            </a:r>
            <a:r>
              <a:rPr sz="1600" b="0" dirty="0">
                <a:solidFill>
                  <a:srgbClr val="1B1B1B"/>
                </a:solidFill>
              </a:rPr>
              <a:t>.</a:t>
            </a:r>
          </a:p>
          <a:p>
            <a:pPr>
              <a:spcAft>
                <a:spcPts val="600"/>
              </a:spcAft>
            </a:pPr>
            <a:endParaRPr sz="1600" b="0" dirty="0">
              <a:solidFill>
                <a:srgbClr val="1B1B1B"/>
              </a:solidFill>
            </a:endParaRPr>
          </a:p>
          <a:p>
            <a:pPr>
              <a:spcAft>
                <a:spcPts val="600"/>
              </a:spcAft>
            </a:pPr>
            <a:r>
              <a:rPr sz="1600" b="0" dirty="0" err="1">
                <a:solidFill>
                  <a:srgbClr val="1B1B1B"/>
                </a:solidFill>
              </a:rPr>
              <a:t>Подтверждённые</a:t>
            </a:r>
            <a:r>
              <a:rPr sz="1600" b="0" dirty="0">
                <a:solidFill>
                  <a:srgbClr val="1B1B1B"/>
                </a:solidFill>
              </a:rPr>
              <a:t> </a:t>
            </a:r>
            <a:r>
              <a:rPr sz="1600" b="0" dirty="0" err="1">
                <a:solidFill>
                  <a:srgbClr val="1B1B1B"/>
                </a:solidFill>
              </a:rPr>
              <a:t>события</a:t>
            </a:r>
            <a:r>
              <a:rPr sz="1600" b="0" dirty="0">
                <a:solidFill>
                  <a:srgbClr val="1B1B1B"/>
                </a:solidFill>
              </a:rPr>
              <a:t> </a:t>
            </a:r>
            <a:r>
              <a:rPr sz="1600" b="0" dirty="0" err="1">
                <a:solidFill>
                  <a:srgbClr val="1B1B1B"/>
                </a:solidFill>
              </a:rPr>
              <a:t>отображаются</a:t>
            </a:r>
            <a:r>
              <a:rPr sz="1600" b="0" dirty="0">
                <a:solidFill>
                  <a:srgbClr val="1B1B1B"/>
                </a:solidFill>
              </a:rPr>
              <a:t> в </a:t>
            </a:r>
            <a:r>
              <a:rPr sz="1600" b="0" dirty="0" err="1">
                <a:solidFill>
                  <a:srgbClr val="1B1B1B"/>
                </a:solidFill>
              </a:rPr>
              <a:t>прогнозе</a:t>
            </a:r>
            <a:r>
              <a:rPr sz="1600" b="0" dirty="0">
                <a:solidFill>
                  <a:srgbClr val="1B1B1B"/>
                </a:solidFill>
              </a:rPr>
              <a:t> и </a:t>
            </a:r>
            <a:r>
              <a:rPr sz="1600" b="0" dirty="0" err="1">
                <a:solidFill>
                  <a:srgbClr val="1B1B1B"/>
                </a:solidFill>
              </a:rPr>
              <a:t>помогают</a:t>
            </a:r>
            <a:r>
              <a:rPr sz="1600" b="0" dirty="0">
                <a:solidFill>
                  <a:srgbClr val="1B1B1B"/>
                </a:solidFill>
              </a:rPr>
              <a:t> </a:t>
            </a:r>
            <a:r>
              <a:rPr sz="1600" b="0" dirty="0" err="1">
                <a:solidFill>
                  <a:srgbClr val="1B1B1B"/>
                </a:solidFill>
              </a:rPr>
              <a:t>заранее</a:t>
            </a:r>
            <a:r>
              <a:rPr sz="1600" b="0" dirty="0">
                <a:solidFill>
                  <a:srgbClr val="1B1B1B"/>
                </a:solidFill>
              </a:rPr>
              <a:t> </a:t>
            </a:r>
            <a:r>
              <a:rPr sz="1600" b="0" dirty="0" err="1">
                <a:solidFill>
                  <a:srgbClr val="1B1B1B"/>
                </a:solidFill>
              </a:rPr>
              <a:t>проверить</a:t>
            </a:r>
            <a:r>
              <a:rPr sz="1600" b="0" dirty="0">
                <a:solidFill>
                  <a:srgbClr val="1B1B1B"/>
                </a:solidFill>
              </a:rPr>
              <a:t> </a:t>
            </a:r>
            <a:r>
              <a:rPr sz="1600" b="0" dirty="0" err="1">
                <a:solidFill>
                  <a:srgbClr val="1B1B1B"/>
                </a:solidFill>
              </a:rPr>
              <a:t>цены</a:t>
            </a:r>
            <a:r>
              <a:rPr sz="1600" b="0" dirty="0">
                <a:solidFill>
                  <a:srgbClr val="1B1B1B"/>
                </a:solidFill>
              </a:rPr>
              <a:t> и </a:t>
            </a:r>
            <a:r>
              <a:rPr sz="1600" b="0" dirty="0" err="1">
                <a:solidFill>
                  <a:srgbClr val="1B1B1B"/>
                </a:solidFill>
              </a:rPr>
              <a:t>доступность</a:t>
            </a:r>
            <a:r>
              <a:rPr sz="1600" b="0" dirty="0">
                <a:solidFill>
                  <a:srgbClr val="1B1B1B"/>
                </a:solidFill>
              </a:rPr>
              <a:t>.</a:t>
            </a:r>
          </a:p>
        </p:txBody>
      </p:sp>
      <p:pic>
        <p:nvPicPr>
          <p:cNvPr id="6" name="Picture 5" descr="events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117" y="2618201"/>
            <a:ext cx="6637182" cy="31229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0080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A756C"/>
                </a:solidFill>
              </a:rPr>
              <a:t>Первый Апарт-отель · Система автоматической отчётности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9824F"/>
                </a:solidFill>
              </a:rPr>
              <a:t>ВНЕДРЕНИЕ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1B1B"/>
                </a:solidFill>
              </a:rPr>
              <a:t>РЕКОМЕНДАЦИЯ — ЭТО ГОТОВАЯ ИНСТРУКЦИЯ ДЛЯ МЕНЕДЖЕРА</a:t>
            </a:r>
          </a:p>
        </p:txBody>
      </p:sp>
      <p:pic>
        <p:nvPicPr>
          <p:cNvPr id="4" name="Picture 3" descr="reco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3657600" cy="3304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80560" y="1600200"/>
            <a:ext cx="6858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B170B"/>
                </a:solidFill>
              </a:rPr>
              <a:t>Каждая рекомендация отвечает на четыре вопроса: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0574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1. Что происходит и почему это важно?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2. Что именно нужно сделать?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3. Как проверить, что действие сработало?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4. Что делать, если результат не достигнут?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617720"/>
            <a:ext cx="1097280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B170B"/>
                </a:solidFill>
              </a:rPr>
              <a:t>💡 Карточку можно: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принять или отложить;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назначить сотруднику;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отметить как выполненную;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выгрузить в Word для работы.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A756C"/>
                </a:solidFill>
              </a:rPr>
              <a:t>Первый Апарт-отель · Система автоматической отчётности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4361787" y="2164404"/>
            <a:ext cx="3675888" cy="2926080"/>
          </a:xfrm>
          <a:prstGeom prst="rect">
            <a:avLst/>
          </a:prstGeom>
          <a:solidFill>
            <a:srgbClr val="1E1E1E"/>
          </a:solidFill>
          <a:ln w="19050">
            <a:solidFill>
              <a:srgbClr val="C19B6A"/>
            </a:solidFill>
            <a:prstDash val="solid"/>
          </a:ln>
        </p:spPr>
        <p:txBody>
          <a:bodyPr/>
          <a:lstStyle/>
          <a:p>
            <a:endParaRPr>
              <a:solidFill>
                <a:schemeClr val="bg1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9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ВАША ВЫГОДА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это даёт бизнесу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3675888" cy="2926080"/>
          </a:xfrm>
          <a:prstGeom prst="rect">
            <a:avLst/>
          </a:prstGeom>
          <a:solidFill>
            <a:srgbClr val="1E1E1E"/>
          </a:solidFill>
          <a:ln w="19050">
            <a:solidFill>
              <a:srgbClr val="C19B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10–15 мин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3520440"/>
            <a:ext cx="3127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1–2 часов на мониторинг каждый день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58676" y="2367713"/>
            <a:ext cx="17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4400" b="1" dirty="0" err="1">
                <a:solidFill>
                  <a:srgbClr val="DCB179"/>
                </a:solidFill>
                <a:latin typeface="Trebuchet MS" pitchFamily="34" charset="0"/>
              </a:rPr>
              <a:t>Цель</a:t>
            </a:r>
            <a:endParaRPr sz="4400" b="1" dirty="0">
              <a:solidFill>
                <a:srgbClr val="DCB179"/>
              </a:solidFill>
              <a:latin typeface="Trebuchet MS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18888" y="3362852"/>
            <a:ext cx="3127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2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</a:t>
            </a:r>
            <a:r>
              <a:rPr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выручки</a:t>
            </a:r>
            <a:r>
              <a:rPr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</a:t>
            </a:r>
            <a:r>
              <a:rPr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</a:t>
            </a:r>
            <a:r>
              <a:rPr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своевременных</a:t>
            </a:r>
            <a:endParaRPr sz="24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</a:t>
            </a:r>
            <a:r>
              <a:rPr sz="2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обоснованных</a:t>
            </a:r>
            <a:r>
              <a:rPr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решений</a:t>
            </a:r>
            <a:r>
              <a:rPr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</a:t>
            </a:r>
            <a:r>
              <a:rPr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sz="2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цене</a:t>
            </a:r>
            <a:r>
              <a:rPr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sz="2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каналам</a:t>
            </a:r>
            <a:r>
              <a:rPr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sz="2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спросу</a:t>
            </a:r>
            <a:endParaRPr sz="24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38744" y="2148840"/>
            <a:ext cx="3675888" cy="2926080"/>
          </a:xfrm>
          <a:prstGeom prst="rect">
            <a:avLst/>
          </a:prstGeom>
          <a:solidFill>
            <a:srgbClr val="1E1E1E"/>
          </a:solidFill>
          <a:ln w="19050">
            <a:solidFill>
              <a:srgbClr val="C19B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467344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CB1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экран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513064" y="3520440"/>
            <a:ext cx="31272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доходность и рекомендации в одном месте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Меньше рутины и меньше упущенных возможностей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98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МЫ СЕЙЧАС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Текущий статус проекта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28016" cy="13258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60120" y="210312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✅ Реализовано</a:t>
            </a:r>
          </a:p>
        </p:txBody>
      </p:sp>
      <p:sp>
        <p:nvSpPr>
          <p:cNvPr id="7" name="Text 5"/>
          <p:cNvSpPr/>
          <p:nvPr/>
        </p:nvSpPr>
        <p:spPr>
          <a:xfrm>
            <a:off x="4297680" y="2103120"/>
            <a:ext cx="7040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Админка, отчётность, прогноз, рекомендации, конкурентный мониторинг, события Томска, Word-инструкции и ИИ-аналитика.</a:t>
            </a:r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10881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128016" cy="13258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60120" y="356616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⏳ В пилоте</a:t>
            </a:r>
          </a:p>
        </p:txBody>
      </p:sp>
      <p:sp>
        <p:nvSpPr>
          <p:cNvPr id="11" name="Text 9"/>
          <p:cNvSpPr/>
          <p:nvPr/>
        </p:nvSpPr>
        <p:spPr>
          <a:xfrm>
            <a:off x="4297680" y="3566160"/>
            <a:ext cx="7040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Накопление истории TravelLine, проверка точности прогноза, проверка живых источников событий и цен конкурентов.</a:t>
            </a:r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10881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D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128016" cy="1325880"/>
          </a:xfrm>
          <a:prstGeom prst="rect">
            <a:avLst/>
          </a:prstGeom>
          <a:solidFill>
            <a:srgbClr val="A982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60120" y="502920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➡️ Следующий шаг</a:t>
            </a:r>
          </a:p>
        </p:txBody>
      </p:sp>
      <p:sp>
        <p:nvSpPr>
          <p:cNvPr id="15" name="Text 13"/>
          <p:cNvSpPr/>
          <p:nvPr/>
        </p:nvSpPr>
        <p:spPr>
          <a:xfrm>
            <a:off x="4297680" y="5029200"/>
            <a:ext cx="7040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Тестовый прогон 1–2 недели, сверка с TravelLine и настройка рабочих порогов.</a:t>
            </a:r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7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Апарт-отель · Система автоматической отчётности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114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9824F"/>
                </a:solidFill>
              </a:rPr>
              <a:t>РАЗВИТИЕ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1B1B"/>
                </a:solidFill>
              </a:rPr>
              <a:t>ПЕРСПЕКТИВЫ: ОТ АНАЛИТИКИ К УПРАВЛЯЕМОМУ РОСТУ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</a:rPr>
              <a:t>Ближайший этап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калибровка прогноза по фактическим бронированиям;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развитие внутреннего Max-бота для сотрудников;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регулярная проверка рекомендаций и их результатов.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089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B170B"/>
                </a:solidFill>
              </a:rPr>
              <a:t>Следующий этап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29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персональные предложения повторным гостям;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усиление прямых бронирований;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анализ отзывов и обращений гостей;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расширение мониторинга конкурентов.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091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A9824F"/>
                </a:solidFill>
              </a:rPr>
              <a:t>Долгосрочно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полуавтоматическое управление тарифами только после подтверждения точности модели;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</a:rPr>
              <a:t>• масштабирование решения на другие объекты.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7A756C"/>
                </a:solidFill>
              </a:rPr>
              <a:t>Первый Апарт-отель · Система автоматической отчётности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19B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972767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ГОТОВЫ ПЕРЕЙТИ К ПИЛОТНОМУ ЗАПУСКУ</a:t>
            </a:r>
          </a:p>
        </p:txBody>
      </p:sp>
      <p:sp>
        <p:nvSpPr>
          <p:cNvPr id="4" name="Text 2"/>
          <p:cNvSpPr/>
          <p:nvPr/>
        </p:nvSpPr>
        <p:spPr>
          <a:xfrm>
            <a:off x="731520" y="1567127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Следующий шаг:</a:t>
            </a:r>
          </a:p>
          <a:p>
            <a:r>
              <a:t>подключить и проверить данные TravelLine</a:t>
            </a:r>
          </a:p>
        </p:txBody>
      </p:sp>
      <p:sp>
        <p:nvSpPr>
          <p:cNvPr id="5" name="Text 3"/>
          <p:cNvSpPr/>
          <p:nvPr/>
        </p:nvSpPr>
        <p:spPr>
          <a:xfrm>
            <a:off x="731520" y="3761687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Запустить тестовый период, сверить прогноз с фактом</a:t>
            </a:r>
          </a:p>
          <a:p>
            <a:r>
              <a:t>и перейти к регулярной работе.</a:t>
            </a:r>
          </a:p>
        </p:txBody>
      </p:sp>
      <p:sp>
        <p:nvSpPr>
          <p:cNvPr id="6" name="Text 4"/>
          <p:cNvSpPr/>
          <p:nvPr/>
        </p:nvSpPr>
        <p:spPr>
          <a:xfrm>
            <a:off x="731520" y="5224727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DCB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Сергей Богдановский · разработка и внедрение
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+7 909 195-04-08  ·  bogdanchik2@yandex.ru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1278</Words>
  <Application>Microsoft Office PowerPoint</Application>
  <PresentationFormat>Широкоэкранный</PresentationFormat>
  <Paragraphs>154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Сергей</cp:lastModifiedBy>
  <cp:revision>5</cp:revision>
  <dcterms:created xsi:type="dcterms:W3CDTF">2026-07-15T18:26:20Z</dcterms:created>
  <dcterms:modified xsi:type="dcterms:W3CDTF">2026-07-22T07:54:51Z</dcterms:modified>
</cp:coreProperties>
</file>