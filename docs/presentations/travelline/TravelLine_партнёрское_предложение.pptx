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4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30F1A-FDF3-48E5-B7E4-1C9FCCE6556E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9359D-3536-4D11-AE59-6F8C6FFE97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985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Мы не заменяем TravelLine — мы помогаем владельцу быстрее принимать решения на основе данных, которые уже есть в PMS и каналах продаж. Это партнёрское предложение проверить ценность вместе, без заявлений о статусе партнёра TravelLine.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9359D-3536-4D11-AE59-6F8C6FFE970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399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У клиента TravelLine много данных, но мало времени. Каждый день одни и те же вопросы: что будет с загрузкой, где цена, какие события, что делать менеджеру. Ответ часто приходит поздно — после ручного сведения таблиц.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9359D-3536-4D11-AE59-6F8C6FFE970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98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Наш слой работает поверх разрешённых данных TravelLine и других источников. На выходе — не ещё одна таблица, а прогноз, рекомендации и контроль исполнения. MVP уже проверяется на одном объекте; масштабирование — после пилота.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9359D-3536-4D11-AE59-6F8C6FFE970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845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Пример сценария: растёт pickup, есть событие, цена ниже рынка — система предлагает конкретные шаги и контроль через 24 часа. Автоматической смены тарифов в TravelLine нет — решение остаётся за менеджером.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9359D-3536-4D11-AE59-6F8C6FFE970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519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Мы не обещаем рубли до пилота. Предлагаем измеримую методику: сколько часов уходит на ручной контроль сейчас и сколько после. Рост дохода измеряем отдельно — не смешиваем с экономией времени.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9359D-3536-4D11-AE59-6F8C6FFE970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665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Для TravelLine это гипотеза: дополнительная ценность данных, регулярность работы с показателями, add-on без замены PMS. Retention и NPS — только предмет проверки в пилоте, не заявленный факт.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9359D-3536-4D11-AE59-6F8C6FFE970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604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Предлагаем контролируемый пилот с понятным разделением ролей. Коммерческую модель не фиксируем заранее — сначала подтверждаем спрос и ценность на 1–3 объектах.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9359D-3536-4D11-AE59-6F8C6FFE970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330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Вебинар — первый шаг проверки спроса среди клиентов TravelLine. 45 минут, демо на тестовых данных, опрос готовности платить. Цены в опросе — гипотеза, не прайс.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9359D-3536-4D11-AE59-6F8C6FFE970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300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План на 90 дней: согласование API и вебинар, подключение пилота с baseline, анализ факта и решение о модели партнёрства. Без обещания массового продукта до результатов.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9359D-3536-4D11-AE59-6F8C6FFE970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577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Финальный призыв — не продать отчёт, а вместе измерить экономию времени, скорость решений и готовность платить. Следующий шаг — встреча для согласования вебинара и пилота.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9359D-3536-4D11-AE59-6F8C6FFE970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216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822960"/>
            <a:ext cx="10972800" cy="17413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dirty="0" err="1">
                <a:solidFill>
                  <a:schemeClr val="bg2">
                    <a:lumMod val="75000"/>
                  </a:schemeClr>
                </a:solidFill>
              </a:rPr>
              <a:t>От</a:t>
            </a:r>
            <a:r>
              <a:rPr sz="48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sz="4800" b="1" dirty="0" err="1">
                <a:solidFill>
                  <a:schemeClr val="bg2">
                    <a:lumMod val="75000"/>
                  </a:schemeClr>
                </a:solidFill>
              </a:rPr>
              <a:t>данных</a:t>
            </a:r>
            <a:r>
              <a:rPr sz="48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sz="4800" b="1" dirty="0" err="1">
                <a:solidFill>
                  <a:schemeClr val="bg2">
                    <a:lumMod val="75000"/>
                  </a:schemeClr>
                </a:solidFill>
              </a:rPr>
              <a:t>TravelLine</a:t>
            </a:r>
            <a:r>
              <a:rPr sz="4800" b="1" dirty="0">
                <a:solidFill>
                  <a:schemeClr val="bg2">
                    <a:lumMod val="75000"/>
                  </a:schemeClr>
                </a:solidFill>
              </a:rPr>
              <a:t> —
к </a:t>
            </a:r>
            <a:r>
              <a:rPr sz="4800" b="1" dirty="0" err="1">
                <a:solidFill>
                  <a:schemeClr val="bg2">
                    <a:lumMod val="75000"/>
                  </a:schemeClr>
                </a:solidFill>
              </a:rPr>
              <a:t>ежедневным</a:t>
            </a:r>
            <a:r>
              <a:rPr sz="48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sz="4800" b="1" dirty="0" err="1">
                <a:solidFill>
                  <a:schemeClr val="bg2">
                    <a:lumMod val="75000"/>
                  </a:schemeClr>
                </a:solidFill>
              </a:rPr>
              <a:t>решениям</a:t>
            </a:r>
            <a:r>
              <a:rPr sz="4800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sz="4800" b="1" dirty="0" err="1">
                <a:solidFill>
                  <a:schemeClr val="bg2">
                    <a:lumMod val="75000"/>
                  </a:schemeClr>
                </a:solidFill>
              </a:rPr>
              <a:t>владельца</a:t>
            </a:r>
            <a:endParaRPr sz="4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2606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38BDF8"/>
                </a:solidFill>
              </a:rPr>
              <a:t>Партнёрское предложение: аналитика, прогноз и рекомендации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290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dirty="0" err="1">
                <a:solidFill>
                  <a:schemeClr val="bg1"/>
                </a:solidFill>
              </a:rPr>
              <a:t>Помогаем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владельцу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быстрее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понимать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ситуацию</a:t>
            </a:r>
            <a:r>
              <a:rPr sz="2400" b="0" dirty="0">
                <a:solidFill>
                  <a:schemeClr val="bg1"/>
                </a:solidFill>
              </a:rPr>
              <a:t>,
</a:t>
            </a:r>
            <a:r>
              <a:rPr sz="2400" b="0" dirty="0" err="1">
                <a:solidFill>
                  <a:schemeClr val="bg1"/>
                </a:solidFill>
              </a:rPr>
              <a:t>действовать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по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данным</a:t>
            </a:r>
            <a:r>
              <a:rPr sz="2400" b="0" dirty="0">
                <a:solidFill>
                  <a:schemeClr val="bg1"/>
                </a:solidFill>
              </a:rPr>
              <a:t> и </a:t>
            </a:r>
            <a:r>
              <a:rPr sz="2400" b="0" dirty="0" err="1">
                <a:solidFill>
                  <a:schemeClr val="bg1"/>
                </a:solidFill>
              </a:rPr>
              <a:t>контролировать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результат</a:t>
            </a:r>
            <a:r>
              <a:rPr sz="2400" b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1F5F9"/>
                </a:solidFill>
              </a:rPr>
              <a:t>Аналитическая платформа для объектов размещения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23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64748B"/>
                </a:solidFill>
              </a:rPr>
              <a:t>Сергей Богдановский · bogdanchik2@yandex.ru · +7 909 195-04-08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</a:rPr>
              <a:t>Аналитическая платформа для объектов размещения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D4ED8"/>
                </a:solidFill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0512"/>
            <a:ext cx="11155680" cy="13978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dirty="0">
                <a:solidFill>
                  <a:schemeClr val="bg2">
                    <a:lumMod val="50000"/>
                  </a:schemeClr>
                </a:solidFill>
              </a:rPr>
              <a:t>ДАННЫХ МНОГО.
ВРЕМЕНИ НА РЕШЕНИЯ — МАЛО.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dirty="0">
                <a:solidFill>
                  <a:srgbClr val="334155"/>
                </a:solidFill>
              </a:rPr>
              <a:t>• </a:t>
            </a:r>
            <a:r>
              <a:rPr sz="2400" b="0" dirty="0" err="1">
                <a:solidFill>
                  <a:srgbClr val="334155"/>
                </a:solidFill>
              </a:rPr>
              <a:t>Что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будет</a:t>
            </a:r>
            <a:r>
              <a:rPr sz="2400" b="0" dirty="0">
                <a:solidFill>
                  <a:srgbClr val="334155"/>
                </a:solidFill>
              </a:rPr>
              <a:t> с </a:t>
            </a:r>
            <a:r>
              <a:rPr sz="2400" b="0" dirty="0" err="1">
                <a:solidFill>
                  <a:srgbClr val="334155"/>
                </a:solidFill>
              </a:rPr>
              <a:t>загрузкой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через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неделю</a:t>
            </a:r>
            <a:r>
              <a:rPr sz="2400" b="0" dirty="0">
                <a:solidFill>
                  <a:srgbClr val="334155"/>
                </a:solidFill>
              </a:rPr>
              <a:t> и </a:t>
            </a:r>
            <a:r>
              <a:rPr sz="2400" b="0" dirty="0" err="1">
                <a:solidFill>
                  <a:srgbClr val="334155"/>
                </a:solidFill>
              </a:rPr>
              <a:t>месяц</a:t>
            </a:r>
            <a:r>
              <a:rPr sz="2400" b="0" dirty="0">
                <a:solidFill>
                  <a:srgbClr val="334155"/>
                </a:solidFill>
              </a:rPr>
              <a:t>?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dirty="0">
                <a:solidFill>
                  <a:srgbClr val="334155"/>
                </a:solidFill>
              </a:rPr>
              <a:t>• </a:t>
            </a:r>
            <a:r>
              <a:rPr sz="2400" b="0" dirty="0" err="1">
                <a:solidFill>
                  <a:srgbClr val="334155"/>
                </a:solidFill>
              </a:rPr>
              <a:t>Где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цена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отстаёт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от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рынка</a:t>
            </a:r>
            <a:r>
              <a:rPr sz="2400" b="0" dirty="0">
                <a:solidFill>
                  <a:srgbClr val="334155"/>
                </a:solidFill>
              </a:rPr>
              <a:t>?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dirty="0">
                <a:solidFill>
                  <a:srgbClr val="334155"/>
                </a:solidFill>
              </a:rPr>
              <a:t>• </a:t>
            </a:r>
            <a:r>
              <a:rPr sz="2400" b="0" dirty="0" err="1">
                <a:solidFill>
                  <a:srgbClr val="334155"/>
                </a:solidFill>
              </a:rPr>
              <a:t>Какие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события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могут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привести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спрос</a:t>
            </a:r>
            <a:r>
              <a:rPr sz="2400" b="0" dirty="0">
                <a:solidFill>
                  <a:srgbClr val="334155"/>
                </a:solidFill>
              </a:rPr>
              <a:t>?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dirty="0">
                <a:solidFill>
                  <a:srgbClr val="334155"/>
                </a:solidFill>
              </a:rPr>
              <a:t>• </a:t>
            </a:r>
            <a:r>
              <a:rPr sz="2400" b="0" dirty="0" err="1">
                <a:solidFill>
                  <a:srgbClr val="334155"/>
                </a:solidFill>
              </a:rPr>
              <a:t>Что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должен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сделать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менеджер</a:t>
            </a:r>
            <a:r>
              <a:rPr sz="2400" b="0" dirty="0">
                <a:solidFill>
                  <a:srgbClr val="334155"/>
                </a:solidFill>
              </a:rPr>
              <a:t> </a:t>
            </a:r>
            <a:r>
              <a:rPr sz="2400" b="0" dirty="0" err="1">
                <a:solidFill>
                  <a:srgbClr val="334155"/>
                </a:solidFill>
              </a:rPr>
              <a:t>сегодня</a:t>
            </a:r>
            <a:r>
              <a:rPr sz="2400" b="0" dirty="0">
                <a:solidFill>
                  <a:srgbClr val="334155"/>
                </a:solidFill>
              </a:rPr>
              <a:t>?</a:t>
            </a:r>
          </a:p>
        </p:txBody>
      </p:sp>
      <p:pic>
        <p:nvPicPr>
          <p:cNvPr id="5" name="Picture 4" descr="problem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77639"/>
            <a:ext cx="11155680" cy="31121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0080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Аналитическая платформа для объектов размещения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8BDF8"/>
                </a:solidFill>
              </a:rPr>
              <a:t>РЕШЕНИЕ</a:t>
            </a:r>
          </a:p>
        </p:txBody>
      </p:sp>
      <p:pic>
        <p:nvPicPr>
          <p:cNvPr id="4" name="Picture 3" descr="solution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32015"/>
            <a:ext cx="11155680" cy="4306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2677160"/>
            <a:ext cx="11155680" cy="2789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dirty="0">
                <a:solidFill>
                  <a:srgbClr val="F1F5F9"/>
                </a:solidFill>
              </a:rPr>
              <a:t>📊  </a:t>
            </a:r>
            <a:r>
              <a:rPr sz="2400" b="0" dirty="0" err="1">
                <a:solidFill>
                  <a:srgbClr val="F1F5F9"/>
                </a:solidFill>
              </a:rPr>
              <a:t>ежедневная</a:t>
            </a:r>
            <a:r>
              <a:rPr sz="2400" b="0" dirty="0">
                <a:solidFill>
                  <a:srgbClr val="F1F5F9"/>
                </a:solidFill>
              </a:rPr>
              <a:t> </a:t>
            </a:r>
            <a:r>
              <a:rPr sz="2400" b="0" dirty="0" err="1">
                <a:solidFill>
                  <a:srgbClr val="F1F5F9"/>
                </a:solidFill>
              </a:rPr>
              <a:t>сводка</a:t>
            </a:r>
            <a:r>
              <a:rPr sz="2400" b="0" dirty="0">
                <a:solidFill>
                  <a:srgbClr val="F1F5F9"/>
                </a:solidFill>
              </a:rPr>
              <a:t> </a:t>
            </a:r>
            <a:r>
              <a:rPr sz="2400" b="0" dirty="0" err="1">
                <a:solidFill>
                  <a:srgbClr val="F1F5F9"/>
                </a:solidFill>
              </a:rPr>
              <a:t>показателей</a:t>
            </a:r>
            <a:endParaRPr lang="ru-RU" sz="2400" b="0" dirty="0">
              <a:solidFill>
                <a:srgbClr val="F1F5F9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sz="2400" b="0" dirty="0">
              <a:solidFill>
                <a:srgbClr val="F1F5F9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dirty="0">
                <a:solidFill>
                  <a:srgbClr val="F1F5F9"/>
                </a:solidFill>
              </a:rPr>
              <a:t>🔮  </a:t>
            </a:r>
            <a:r>
              <a:rPr sz="2400" b="0" dirty="0" err="1">
                <a:solidFill>
                  <a:srgbClr val="F1F5F9"/>
                </a:solidFill>
              </a:rPr>
              <a:t>прогноз</a:t>
            </a:r>
            <a:r>
              <a:rPr sz="2400" b="0" dirty="0">
                <a:solidFill>
                  <a:srgbClr val="F1F5F9"/>
                </a:solidFill>
              </a:rPr>
              <a:t> </a:t>
            </a:r>
            <a:r>
              <a:rPr sz="2400" b="0" dirty="0" err="1">
                <a:solidFill>
                  <a:srgbClr val="F1F5F9"/>
                </a:solidFill>
              </a:rPr>
              <a:t>загрузки</a:t>
            </a:r>
            <a:r>
              <a:rPr sz="2400" b="0" dirty="0">
                <a:solidFill>
                  <a:srgbClr val="F1F5F9"/>
                </a:solidFill>
              </a:rPr>
              <a:t> и </a:t>
            </a:r>
            <a:r>
              <a:rPr sz="2400" b="0" dirty="0" err="1">
                <a:solidFill>
                  <a:srgbClr val="F1F5F9"/>
                </a:solidFill>
              </a:rPr>
              <a:t>выручки</a:t>
            </a:r>
            <a:endParaRPr sz="2400" b="0" dirty="0">
              <a:solidFill>
                <a:srgbClr val="F1F5F9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dirty="0">
                <a:solidFill>
                  <a:srgbClr val="F1F5F9"/>
                </a:solidFill>
              </a:rPr>
              <a:t>💡  </a:t>
            </a:r>
            <a:r>
              <a:rPr sz="2400" b="0" dirty="0" err="1">
                <a:solidFill>
                  <a:srgbClr val="F1F5F9"/>
                </a:solidFill>
              </a:rPr>
              <a:t>рекомендации</a:t>
            </a:r>
            <a:r>
              <a:rPr sz="2400" b="0" dirty="0">
                <a:solidFill>
                  <a:srgbClr val="F1F5F9"/>
                </a:solidFill>
              </a:rPr>
              <a:t> и </a:t>
            </a:r>
            <a:r>
              <a:rPr sz="2400" b="0" dirty="0" err="1">
                <a:solidFill>
                  <a:srgbClr val="F1F5F9"/>
                </a:solidFill>
              </a:rPr>
              <a:t>контроль</a:t>
            </a:r>
            <a:r>
              <a:rPr sz="2400" b="0" dirty="0">
                <a:solidFill>
                  <a:srgbClr val="F1F5F9"/>
                </a:solidFill>
              </a:rPr>
              <a:t> </a:t>
            </a:r>
            <a:r>
              <a:rPr sz="2400" b="0" dirty="0" err="1">
                <a:solidFill>
                  <a:srgbClr val="F1F5F9"/>
                </a:solidFill>
              </a:rPr>
              <a:t>исполнения</a:t>
            </a:r>
            <a:endParaRPr sz="2400" b="0" dirty="0">
              <a:solidFill>
                <a:srgbClr val="F1F5F9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 dirty="0">
                <a:solidFill>
                  <a:srgbClr val="F1F5F9"/>
                </a:solidFill>
              </a:rPr>
              <a:t>📅  </a:t>
            </a:r>
            <a:r>
              <a:rPr sz="2400" b="0" dirty="0" err="1">
                <a:solidFill>
                  <a:srgbClr val="F1F5F9"/>
                </a:solidFill>
              </a:rPr>
              <a:t>события</a:t>
            </a:r>
            <a:r>
              <a:rPr sz="2400" b="0" dirty="0">
                <a:solidFill>
                  <a:srgbClr val="F1F5F9"/>
                </a:solidFill>
              </a:rPr>
              <a:t> </a:t>
            </a:r>
            <a:r>
              <a:rPr sz="2400" b="0" dirty="0" err="1">
                <a:solidFill>
                  <a:srgbClr val="F1F5F9"/>
                </a:solidFill>
              </a:rPr>
              <a:t>города</a:t>
            </a:r>
            <a:r>
              <a:rPr sz="2400" b="0" dirty="0">
                <a:solidFill>
                  <a:srgbClr val="F1F5F9"/>
                </a:solidFill>
              </a:rPr>
              <a:t> и </a:t>
            </a:r>
            <a:r>
              <a:rPr sz="2400" b="0" dirty="0" err="1">
                <a:solidFill>
                  <a:srgbClr val="F1F5F9"/>
                </a:solidFill>
              </a:rPr>
              <a:t>рыночные</a:t>
            </a:r>
            <a:r>
              <a:rPr sz="2400" b="0" dirty="0">
                <a:solidFill>
                  <a:srgbClr val="F1F5F9"/>
                </a:solidFill>
              </a:rPr>
              <a:t> </a:t>
            </a:r>
            <a:r>
              <a:rPr sz="2400" b="0" dirty="0" err="1">
                <a:solidFill>
                  <a:srgbClr val="F1F5F9"/>
                </a:solidFill>
              </a:rPr>
              <a:t>сигналы</a:t>
            </a:r>
            <a:endParaRPr sz="2400" b="0" dirty="0">
              <a:solidFill>
                <a:srgbClr val="F1F5F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</a:rPr>
              <a:t>MVP на одном объекте · масштаб — после пилота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</a:rPr>
              <a:t>Аналитическая платформа для объектов размещения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1397819"/>
          </a:xfrm>
          <a:prstGeom prst="rect">
            <a:avLst/>
          </a:prstGeom>
          <a:noFill/>
          <a:effectLst>
            <a:outerShdw blurRad="50800" dist="38100" dir="5400000" algn="t" rotWithShape="0">
              <a:schemeClr val="bg1">
                <a:alpha val="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dirty="0">
                <a:solidFill>
                  <a:schemeClr val="bg2">
                    <a:lumMod val="50000"/>
                  </a:schemeClr>
                </a:solidFill>
              </a:rPr>
              <a:t>АНАЛИТИЧЕСКИЙ СЛОЙ</a:t>
            </a:r>
            <a:r>
              <a:rPr sz="3800" b="1" dirty="0">
                <a:solidFill>
                  <a:schemeClr val="bg1"/>
                </a:solidFill>
              </a:rPr>
              <a:t>
</a:t>
            </a:r>
            <a:r>
              <a:rPr lang="ru-RU" sz="3800" b="1" dirty="0">
                <a:solidFill>
                  <a:schemeClr val="bg1"/>
                </a:solidFill>
              </a:rPr>
              <a:t>ПО</a:t>
            </a:r>
            <a:r>
              <a:rPr sz="3800" b="1" dirty="0">
                <a:solidFill>
                  <a:schemeClr val="bg1"/>
                </a:solidFill>
              </a:rPr>
              <a:t>Д ДАННЫМИ TRAVELLINE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D4ED8"/>
                </a:solidFill>
              </a:rPr>
              <a:t>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F172A"/>
                </a:solidFill>
              </a:rPr>
              <a:t>НЕ ОТЧЁТ.
А ПЛАН ДЕЙСТВИЙ.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1115568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Сигнал: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334155"/>
                </a:solidFill>
              </a:rPr>
              <a:t>Pickup растёт · событие подтверждено · цена ниже рынка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D4ED8"/>
                </a:solidFill>
              </a:rPr>
              <a:t>Действие: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334155"/>
                </a:solidFill>
              </a:rPr>
              <a:t>Проверить цену → обновить тариф → контроль через 24 ч</a:t>
            </a:r>
          </a:p>
        </p:txBody>
      </p:sp>
      <p:pic>
        <p:nvPicPr>
          <p:cNvPr id="9" name="Picture 8" descr="action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77639"/>
            <a:ext cx="11155680" cy="2345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0080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Аналитическая платформа для объектов размещения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D4ED8"/>
                </a:solidFill>
              </a:rPr>
              <a:t>ИЗМЕРЕНИЕ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F172A"/>
                </a:solidFill>
              </a:rPr>
              <a:t>ЭКОНОМИЯ ВРЕМЕНИ
ДОЛЖНА БЫТЬ ИЗМЕРИМОЙ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539496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4155"/>
                </a:solidFill>
              </a:rPr>
              <a:t>Часы в месяц =
ежедневный контроль × раб. дни
+ еженедельный отчёт
+ сверка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691640"/>
            <a:ext cx="539496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4155"/>
                </a:solidFill>
              </a:rPr>
              <a:t>Рубли =
часы × стоимость часа
(ФОТ / 160) × коэфф.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49039"/>
            <a:ext cx="11155680" cy="14173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</a:rPr>
              <a:t>До пилота: ___ ч/мес.   После: ___ ч/мес.
Экономия: ___ ч / ___ ₽
Рост дохода — отдельно, по результатам пилота.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Аналитическая платформа для объектов размещения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8BDF8"/>
                </a:solidFill>
              </a:rPr>
              <a:t>ЭКОСИСТЕМА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1F5F9"/>
                </a:solidFill>
              </a:rPr>
              <a:t>ЦЕННОСТЬ ДЛЯ TRAVELLINE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>
                <a:solidFill>
                  <a:srgbClr val="F1F5F9"/>
                </a:solidFill>
              </a:rPr>
              <a:t>• Понятная ценность данных для владельца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>
                <a:solidFill>
                  <a:srgbClr val="F1F5F9"/>
                </a:solidFill>
              </a:rPr>
              <a:t>• Регулярная работа с показателями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>
                <a:solidFill>
                  <a:srgbClr val="F1F5F9"/>
                </a:solidFill>
              </a:rPr>
              <a:t>• Add-on без замены PMS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>
                <a:solidFill>
                  <a:srgbClr val="F1F5F9"/>
                </a:solidFill>
              </a:rPr>
              <a:t>• Поэтапное подключение объектов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>
                <a:solidFill>
                  <a:srgbClr val="F1F5F9"/>
                </a:solidFill>
              </a:rPr>
              <a:t>• Marketplace / совместное предложение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sz="2400" b="0">
              <a:solidFill>
                <a:srgbClr val="F1F5F9"/>
              </a:solidFill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400" b="0">
                <a:solidFill>
                  <a:srgbClr val="F1F5F9"/>
                </a:solidFill>
              </a:rPr>
              <a:t>Retention и NPS — гипотеза для пилота.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</a:rPr>
              <a:t>Аналитическая платформа для объектов размещения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D4ED8"/>
                </a:solidFill>
              </a:rPr>
              <a:t>ПИЛОТ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F172A"/>
                </a:solidFill>
              </a:rPr>
              <a:t>КОНТРОЛИРУЕМЫЙ СТАРТ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11155680" cy="868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D4ED8"/>
                </a:solidFill>
              </a:rPr>
              <a:t>TravelLine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85623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4155"/>
                </a:solidFill>
              </a:rPr>
              <a:t>API · интеграция · пилотные объекты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97480"/>
            <a:ext cx="11155680" cy="868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D4ED8"/>
                </a:solidFill>
              </a:rPr>
              <a:t>Разработчик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86207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4155"/>
                </a:solidFill>
              </a:rPr>
              <a:t>аналитика · поддержка · обратная связь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03320"/>
            <a:ext cx="11155680" cy="868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867912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D4ED8"/>
                </a:solidFill>
              </a:rPr>
              <a:t>Объект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6791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4155"/>
                </a:solidFill>
              </a:rPr>
              <a:t>данные · проверка рекомендаций · оценка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006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172A"/>
                </a:solidFill>
              </a:rPr>
              <a:t>После пилота: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120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>
                <a:solidFill>
                  <a:srgbClr val="334155"/>
                </a:solidFill>
              </a:rPr>
              <a:t>1. Модуль для клиентов TL   2. Marketplace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>
                <a:solidFill>
                  <a:srgbClr val="334155"/>
                </a:solidFill>
              </a:rPr>
              <a:t>3. Совместное внедрение   4. Revenue-share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Аналитическая платформа для объектов размещения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D4ED8"/>
                </a:solidFill>
              </a:rPr>
              <a:t>СПРОС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0F172A"/>
                </a:solidFill>
              </a:rPr>
              <a:t>ВЕБИНАР ДЛЯ
КЛИЕНТОВ TRAVELLINE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1115568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D4ED8"/>
                </a:solidFill>
              </a:rPr>
              <a:t>45 минут: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>
                <a:solidFill>
                  <a:srgbClr val="334155"/>
                </a:solidFill>
              </a:rPr>
              <a:t>10 мин — проблема владельца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>
                <a:solidFill>
                  <a:srgbClr val="334155"/>
                </a:solidFill>
              </a:rPr>
              <a:t>15 мин — демо на тестовых данных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>
                <a:solidFill>
                  <a:srgbClr val="334155"/>
                </a:solidFill>
              </a:rPr>
              <a:t>10 мин — прогноз и рекомендации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>
                <a:solidFill>
                  <a:srgbClr val="334155"/>
                </a:solidFill>
              </a:rPr>
              <a:t>10 мин — вопросы и заявки в пилот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49039"/>
            <a:ext cx="111556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D4ED8"/>
                </a:solidFill>
              </a:rPr>
              <a:t>Опрос: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>
                <a:solidFill>
                  <a:srgbClr val="334155"/>
                </a:solidFill>
              </a:rPr>
              <a:t>Формат ценности · готовность платить · заявка в пилот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200" b="0">
                <a:solidFill>
                  <a:srgbClr val="334155"/>
                </a:solidFill>
              </a:rPr>
              <a:t>Цена в опросе — гипотеза, не прайс.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Аналитическая платформа для объектов размещения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8BDF8"/>
                </a:solidFill>
              </a:rPr>
              <a:t>ПЛАН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1F5F9"/>
                </a:solidFill>
              </a:rPr>
              <a:t>90 ДНЕЙ ДО ПРОДУКТА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11155680" cy="1051560"/>
          </a:xfrm>
          <a:prstGeom prst="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9280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38BDF8"/>
                </a:solidFill>
              </a:rPr>
              <a:t>0–30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94767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1F5F9"/>
                </a:solidFill>
              </a:rPr>
              <a:t>API · вебинар · отбор объектов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926080"/>
            <a:ext cx="11155680" cy="1051560"/>
          </a:xfrm>
          <a:prstGeom prst="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12724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38BDF8"/>
                </a:solidFill>
              </a:rPr>
              <a:t>31–60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18211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1F5F9"/>
                </a:solidFill>
              </a:rPr>
              <a:t>пилот · baseline · обучение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60520"/>
            <a:ext cx="11155680" cy="1051560"/>
          </a:xfrm>
          <a:prstGeom prst="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36168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38BDF8"/>
                </a:solidFill>
              </a:rPr>
              <a:t>61–90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41655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1F5F9"/>
                </a:solidFill>
              </a:rPr>
              <a:t>анализ · спрос · модель партнёрства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</a:rPr>
              <a:t>Аналитическая платформа для объектов размещения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0972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dirty="0">
                <a:solidFill>
                  <a:srgbClr val="F1F5F9"/>
                </a:solidFill>
              </a:rPr>
              <a:t>ПРОВЕРИМ ЦЕННОСТЬ
ВМЕСТЕ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7560" y="26162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dirty="0" err="1">
                <a:solidFill>
                  <a:schemeClr val="bg1"/>
                </a:solidFill>
              </a:rPr>
              <a:t>Измерим</a:t>
            </a:r>
            <a:r>
              <a:rPr sz="2400" b="0" dirty="0">
                <a:solidFill>
                  <a:schemeClr val="bg1"/>
                </a:solidFill>
              </a:rPr>
              <a:t>: </a:t>
            </a:r>
            <a:r>
              <a:rPr sz="2400" b="0" dirty="0" err="1">
                <a:solidFill>
                  <a:schemeClr val="bg1"/>
                </a:solidFill>
              </a:rPr>
              <a:t>экономит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ли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время</a:t>
            </a:r>
            <a:r>
              <a:rPr sz="2400" b="0" dirty="0">
                <a:solidFill>
                  <a:schemeClr val="bg1"/>
                </a:solidFill>
              </a:rPr>
              <a:t>,
</a:t>
            </a:r>
            <a:r>
              <a:rPr sz="2400" b="0" dirty="0" err="1">
                <a:solidFill>
                  <a:schemeClr val="bg1"/>
                </a:solidFill>
              </a:rPr>
              <a:t>помогает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ли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действовать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быстрее</a:t>
            </a:r>
            <a:r>
              <a:rPr sz="2400" b="0" dirty="0">
                <a:solidFill>
                  <a:schemeClr val="bg1"/>
                </a:solidFill>
              </a:rPr>
              <a:t>,
</a:t>
            </a:r>
            <a:r>
              <a:rPr sz="2400" b="0" dirty="0" err="1">
                <a:solidFill>
                  <a:schemeClr val="bg1"/>
                </a:solidFill>
              </a:rPr>
              <a:t>готов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ли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рынок</a:t>
            </a:r>
            <a:r>
              <a:rPr sz="2400" b="0" dirty="0">
                <a:solidFill>
                  <a:schemeClr val="bg1"/>
                </a:solidFill>
              </a:rPr>
              <a:t> </a:t>
            </a:r>
            <a:r>
              <a:rPr sz="2400" b="0" dirty="0" err="1">
                <a:solidFill>
                  <a:schemeClr val="bg1"/>
                </a:solidFill>
              </a:rPr>
              <a:t>платить</a:t>
            </a:r>
            <a:r>
              <a:rPr sz="2400" b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023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38BDF8"/>
                </a:solidFill>
              </a:rPr>
              <a:t>Следующий шаг:
встреча · вебинар · пилот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3035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1F5F9"/>
                </a:solidFill>
              </a:rPr>
              <a:t>Сергей Богдановский · bogdanchik2@yandex.ru · +7 909 195-04-08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</a:rPr>
              <a:t>Аналитическая платформа для объектов размещения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846</Words>
  <Application>Microsoft Office PowerPoint</Application>
  <PresentationFormat>Широкоэкранный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Сергей</cp:lastModifiedBy>
  <cp:revision>4</cp:revision>
  <dcterms:created xsi:type="dcterms:W3CDTF">2013-01-27T09:14:16Z</dcterms:created>
  <dcterms:modified xsi:type="dcterms:W3CDTF">2026-07-22T08:58:01Z</dcterms:modified>
  <cp:category/>
</cp:coreProperties>
</file>