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190" autoAdjust="0"/>
  </p:normalViewPr>
  <p:slideViewPr>
    <p:cSldViewPr snapToGrid="0" snapToObjects="1">
      <p:cViewPr varScale="1">
        <p:scale>
          <a:sx n="60" d="100"/>
          <a:sy n="60" d="100"/>
        </p:scale>
        <p:origin x="152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41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Открываем не как замену TravelLine, а как слой решений для владельца на базе уже существующих данных PMS. Цель встречи — согласовать формат проверки ценности через вебинар и пилот, без заявлений о статусе официального партнёра.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Три боли владельца: данные разрознены, решения запаздывают, нет понятного следующего шага. Это не критика TravelLine — наоборот, при богатых данных проблема в скорости интерпретации и действия.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Схема: TravelLine остаётся источником истины, мы добавляем прогноз, рекомендации и контроль. Автоматического изменения тарифов нет — менеджер принимает решение. Функции пилота помечены как проверяемые.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Пример цепочки: сигнал → рекомендация → инструкция → контроль через 24 часа. Это отличает продукт от статичного отчёта и показывает операционную ценность.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Прогноз на несколько горизонтов и календарь событий помогают действовать до того, как спрос отразится в стандартных отчётах. Уровень уверенности прогноза — часть честной коммуникации в пилоте.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Экономику</a:t>
            </a:r>
            <a:r>
              <a:rPr dirty="0"/>
              <a:t> </a:t>
            </a:r>
            <a:r>
              <a:rPr dirty="0" err="1"/>
              <a:t>пилота</a:t>
            </a:r>
            <a:r>
              <a:rPr dirty="0"/>
              <a:t> </a:t>
            </a:r>
            <a:r>
              <a:rPr lang="ru-RU" dirty="0"/>
              <a:t>из</a:t>
            </a:r>
            <a:r>
              <a:rPr dirty="0" err="1"/>
              <a:t>меряем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часы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обещанный</a:t>
            </a:r>
            <a:r>
              <a:rPr dirty="0"/>
              <a:t> </a:t>
            </a:r>
            <a:r>
              <a:rPr dirty="0" err="1"/>
              <a:t>рост</a:t>
            </a:r>
            <a:r>
              <a:rPr dirty="0"/>
              <a:t> </a:t>
            </a:r>
            <a:r>
              <a:rPr dirty="0" err="1"/>
              <a:t>выручки</a:t>
            </a:r>
            <a:r>
              <a:rPr dirty="0"/>
              <a:t>. </a:t>
            </a:r>
            <a:r>
              <a:rPr dirty="0" err="1"/>
              <a:t>Поля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заполнения</a:t>
            </a:r>
            <a:r>
              <a:rPr dirty="0"/>
              <a:t> —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встрече</a:t>
            </a:r>
            <a:r>
              <a:rPr dirty="0"/>
              <a:t> с </a:t>
            </a:r>
            <a:r>
              <a:rPr dirty="0" err="1"/>
              <a:t>объектом</a:t>
            </a:r>
            <a:r>
              <a:rPr dirty="0"/>
              <a:t>. </a:t>
            </a:r>
            <a:r>
              <a:rPr dirty="0" err="1"/>
              <a:t>Финансовый</a:t>
            </a:r>
            <a:r>
              <a:rPr dirty="0"/>
              <a:t> </a:t>
            </a:r>
            <a:r>
              <a:rPr dirty="0" err="1"/>
              <a:t>эффект</a:t>
            </a:r>
            <a:r>
              <a:rPr dirty="0"/>
              <a:t> —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baseline и </a:t>
            </a:r>
            <a:r>
              <a:rPr dirty="0" err="1"/>
              <a:t>измерения</a:t>
            </a:r>
            <a:r>
              <a:rPr dirty="0"/>
              <a:t>,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предварительных</a:t>
            </a:r>
            <a:r>
              <a:rPr dirty="0"/>
              <a:t> </a:t>
            </a:r>
            <a:r>
              <a:rPr dirty="0" err="1"/>
              <a:t>гарантий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Для TravelLine — дополнительная ценность данных, регулярность, возможный add-on. Retention и NPS — гипотезы для проверки, не заявленные метрики продукта.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Вебинар — низкорисковый шаг: проверить интерес, собрать заявки, понять готовность платить и приоритеты функций. Таймлайн 45 минут без перегруза.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Пилот с разделением ролей: TravelLine — доступ и объекты, разработчик — настройка и аналитика, объект — обратная связь. Результат — решение о масштабировании на фактах.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Три этапа зрелости партнёрства без обещания немедленного marketplace. Модели монетизации обсуждаются после подтверждённой ценности пилота.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90 дней: согласование и вебинар, подключение с baseline, анализ и решение. Каждый блок имеет измеримый результат, а не только активность.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Финальный призыв — совместное измерение: помогает ли решение быстрее действовать. Следующий шаг — встреча для согласования вебинара и пилота. Контакты на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49320"/>
            <a:ext cx="1463040" cy="18288"/>
          </a:xfrm>
          <a:prstGeom prst="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331720" y="3449320"/>
            <a:ext cx="1463040" cy="18288"/>
          </a:xfrm>
          <a:prstGeom prst="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60520" y="3449320"/>
            <a:ext cx="1463040" cy="18288"/>
          </a:xfrm>
          <a:prstGeom prst="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89320" y="3449320"/>
            <a:ext cx="1463040" cy="18288"/>
          </a:xfrm>
          <a:prstGeom prst="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3449320"/>
            <a:ext cx="1463040" cy="18288"/>
          </a:xfrm>
          <a:prstGeom prst="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46920" y="3449320"/>
            <a:ext cx="1463040" cy="18288"/>
          </a:xfrm>
          <a:prstGeom prst="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1463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dirty="0" err="1">
                <a:solidFill>
                  <a:srgbClr val="FFFFFF"/>
                </a:solidFill>
                <a:latin typeface="Arial"/>
              </a:rPr>
              <a:t>От</a:t>
            </a:r>
            <a:r>
              <a:rPr sz="3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Arial"/>
              </a:rPr>
              <a:t>данных</a:t>
            </a:r>
            <a:r>
              <a:rPr sz="3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Arial"/>
              </a:rPr>
              <a:t>TravelLine</a:t>
            </a:r>
            <a:r>
              <a:rPr sz="3400" b="1" dirty="0">
                <a:solidFill>
                  <a:srgbClr val="FFFFFF"/>
                </a:solidFill>
                <a:latin typeface="Arial"/>
              </a:rPr>
              <a:t> —
к </a:t>
            </a:r>
            <a:r>
              <a:rPr sz="3400" b="1" dirty="0" err="1">
                <a:solidFill>
                  <a:srgbClr val="FFFFFF"/>
                </a:solidFill>
                <a:latin typeface="Arial"/>
              </a:rPr>
              <a:t>ежедневным</a:t>
            </a:r>
            <a:r>
              <a:rPr sz="3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Arial"/>
              </a:rPr>
              <a:t>решениям</a:t>
            </a:r>
            <a:r>
              <a:rPr sz="3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Arial"/>
              </a:rPr>
              <a:t>владельца</a:t>
            </a:r>
            <a:endParaRPr sz="3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11185855" cy="82296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dirty="0" err="1">
                <a:solidFill>
                  <a:srgbClr val="8EC5FF"/>
                </a:solidFill>
                <a:latin typeface="Arial"/>
              </a:rPr>
              <a:t>Партнёрское</a:t>
            </a:r>
            <a:r>
              <a:rPr sz="1900" b="0" dirty="0">
                <a:solidFill>
                  <a:srgbClr val="8EC5FF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8EC5FF"/>
                </a:solidFill>
                <a:latin typeface="Arial"/>
              </a:rPr>
              <a:t>предложение</a:t>
            </a:r>
            <a:r>
              <a:rPr sz="1900" b="0" dirty="0">
                <a:solidFill>
                  <a:srgbClr val="8EC5FF"/>
                </a:solidFill>
                <a:latin typeface="Arial"/>
              </a:rPr>
              <a:t>:
</a:t>
            </a:r>
            <a:r>
              <a:rPr sz="1900" b="0" dirty="0" err="1">
                <a:solidFill>
                  <a:srgbClr val="8EC5FF"/>
                </a:solidFill>
                <a:latin typeface="Arial"/>
              </a:rPr>
              <a:t>аналитика</a:t>
            </a:r>
            <a:r>
              <a:rPr sz="1900" b="0" dirty="0">
                <a:solidFill>
                  <a:srgbClr val="8EC5FF"/>
                </a:solidFill>
                <a:latin typeface="Arial"/>
              </a:rPr>
              <a:t>, </a:t>
            </a:r>
            <a:r>
              <a:rPr sz="1900" b="0" dirty="0" err="1">
                <a:solidFill>
                  <a:srgbClr val="8EC5FF"/>
                </a:solidFill>
                <a:latin typeface="Arial"/>
              </a:rPr>
              <a:t>прогноз</a:t>
            </a:r>
            <a:r>
              <a:rPr sz="1900" b="0" dirty="0">
                <a:solidFill>
                  <a:srgbClr val="8EC5FF"/>
                </a:solidFill>
                <a:latin typeface="Arial"/>
              </a:rPr>
              <a:t> и </a:t>
            </a:r>
            <a:r>
              <a:rPr sz="1900" b="0" dirty="0" err="1">
                <a:solidFill>
                  <a:srgbClr val="8EC5FF"/>
                </a:solidFill>
                <a:latin typeface="Arial"/>
              </a:rPr>
              <a:t>рекомендации</a:t>
            </a:r>
            <a:r>
              <a:rPr sz="1900" b="0" dirty="0">
                <a:solidFill>
                  <a:srgbClr val="8EC5FF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8EC5FF"/>
                </a:solidFill>
                <a:latin typeface="Arial"/>
              </a:rPr>
              <a:t>для</a:t>
            </a:r>
            <a:r>
              <a:rPr sz="1900" b="0" dirty="0">
                <a:solidFill>
                  <a:srgbClr val="8EC5FF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8EC5FF"/>
                </a:solidFill>
                <a:latin typeface="Arial"/>
              </a:rPr>
              <a:t>объектов</a:t>
            </a:r>
            <a:r>
              <a:rPr sz="1900" b="0" dirty="0">
                <a:solidFill>
                  <a:srgbClr val="8EC5FF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8EC5FF"/>
                </a:solidFill>
                <a:latin typeface="Arial"/>
              </a:rPr>
              <a:t>размещения</a:t>
            </a:r>
            <a:endParaRPr sz="1900" b="0" dirty="0">
              <a:solidFill>
                <a:srgbClr val="8EC5FF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19" y="5527040"/>
            <a:ext cx="11185855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dirty="0">
                <a:solidFill>
                  <a:srgbClr val="5A6B7D"/>
                </a:solidFill>
                <a:latin typeface="Arial"/>
              </a:rPr>
              <a:t>1apart · </a:t>
            </a:r>
            <a:r>
              <a:rPr sz="1600" b="0" dirty="0" err="1">
                <a:solidFill>
                  <a:srgbClr val="5A6B7D"/>
                </a:solidFill>
                <a:latin typeface="Arial"/>
              </a:rPr>
              <a:t>аналитика</a:t>
            </a:r>
            <a:r>
              <a:rPr sz="1600" b="0" dirty="0">
                <a:solidFill>
                  <a:srgbClr val="5A6B7D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A6B7D"/>
                </a:solidFill>
                <a:latin typeface="Arial"/>
              </a:rPr>
              <a:t>для</a:t>
            </a:r>
            <a:r>
              <a:rPr sz="1600" b="0" dirty="0">
                <a:solidFill>
                  <a:srgbClr val="5A6B7D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A6B7D"/>
                </a:solidFill>
                <a:latin typeface="Arial"/>
              </a:rPr>
              <a:t>объектов</a:t>
            </a:r>
            <a:r>
              <a:rPr sz="1600" b="0" dirty="0">
                <a:solidFill>
                  <a:srgbClr val="5A6B7D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A6B7D"/>
                </a:solidFill>
                <a:latin typeface="Arial"/>
              </a:rPr>
              <a:t>размещения</a:t>
            </a:r>
            <a:r>
              <a:rPr sz="1600" b="0" dirty="0">
                <a:solidFill>
                  <a:srgbClr val="5A6B7D"/>
                </a:solidFill>
                <a:latin typeface="Arial"/>
              </a:rPr>
              <a:t>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8B8C8"/>
                </a:solidFill>
                <a:latin typeface="Arial"/>
              </a:rPr>
              <a:t>1apart · аналитика для объектов размещения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54864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8B8C8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42033"/>
                </a:solidFill>
                <a:latin typeface="Arial"/>
              </a:rPr>
              <a:t>Данные есть. Времени на своевременные решения — мало.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471672"/>
            <a:ext cx="361889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471672"/>
            <a:ext cx="54864" cy="1417320"/>
          </a:xfrm>
          <a:prstGeom prst="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3599688"/>
            <a:ext cx="3417722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Ручной 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3910584"/>
            <a:ext cx="3417722" cy="9144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Таблицы, бронирования, цены и отчёты в разных местах.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6402" y="3471672"/>
            <a:ext cx="361889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86402" y="3471672"/>
            <a:ext cx="54864" cy="1417320"/>
          </a:xfrm>
          <a:prstGeom prst="rect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50994" y="3599688"/>
            <a:ext cx="3417722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Решения с опозданием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994" y="3910584"/>
            <a:ext cx="3417722" cy="9144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Цена и спрос меняются каждый день.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9884" y="3471672"/>
            <a:ext cx="361889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9884" y="3471672"/>
            <a:ext cx="54864" cy="1417320"/>
          </a:xfrm>
          <a:prstGeom prst="rect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34476" y="3599688"/>
            <a:ext cx="3417722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Нет следующего действия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4476" y="3910584"/>
            <a:ext cx="3417722" cy="9144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Владелец видит цифры, но не получает понятный план.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731520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1apart · аналитика для объектов размещения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54864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42033"/>
                </a:solidFill>
                <a:latin typeface="Arial"/>
              </a:rPr>
              <a:t>Аналитический слой, который усиливает данные TravelLine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18407" y="1581912"/>
            <a:ext cx="4754880" cy="475488"/>
          </a:xfrm>
          <a:prstGeom prst="roundRect">
            <a:avLst/>
          </a:prstGeom>
          <a:solidFill>
            <a:srgbClr val="E8F0FA"/>
          </a:solidFill>
          <a:ln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28135" y="1673352"/>
            <a:ext cx="4535424" cy="47548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46BCE"/>
                </a:solidFill>
                <a:latin typeface="Arial"/>
              </a:rPr>
              <a:t>TravelLine + PMS + сигналы рынка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86119" y="2093976"/>
            <a:ext cx="219456" cy="164592"/>
          </a:xfrm>
          <a:prstGeom prst="downArrow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718407" y="2258568"/>
            <a:ext cx="4754880" cy="475488"/>
          </a:xfrm>
          <a:prstGeom prst="roundRect">
            <a:avLst/>
          </a:prstGeom>
          <a:solidFill>
            <a:srgbClr val="E8F0FA"/>
          </a:solidFill>
          <a:ln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28135" y="2350008"/>
            <a:ext cx="4535424" cy="47548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46BCE"/>
                </a:solidFill>
                <a:latin typeface="Arial"/>
              </a:rPr>
              <a:t>Прогноз и контроль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86119" y="2770632"/>
            <a:ext cx="219456" cy="164592"/>
          </a:xfrm>
          <a:prstGeom prst="downArrow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18407" y="2935224"/>
            <a:ext cx="4754880" cy="475488"/>
          </a:xfrm>
          <a:prstGeom prst="roundRect">
            <a:avLst/>
          </a:prstGeom>
          <a:solidFill>
            <a:srgbClr val="E8F0FA"/>
          </a:solidFill>
          <a:ln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28135" y="3026664"/>
            <a:ext cx="4535424" cy="47548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46BCE"/>
                </a:solidFill>
                <a:latin typeface="Arial"/>
              </a:rPr>
              <a:t>Рекомендации и действия менеджера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85031"/>
            <a:ext cx="2673019" cy="2459033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685031"/>
            <a:ext cx="54864" cy="2459033"/>
          </a:xfrm>
          <a:prstGeom prst="rect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3823208"/>
            <a:ext cx="2471851" cy="746486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Ежедневные показатели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631944"/>
            <a:ext cx="2471851" cy="361637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Проверяется в пилоте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0531" y="3654551"/>
            <a:ext cx="2673019" cy="2459033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40531" y="3685031"/>
            <a:ext cx="54864" cy="2459033"/>
          </a:xfrm>
          <a:prstGeom prst="rect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05123" y="3823208"/>
            <a:ext cx="2471851" cy="410241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Прогноз загрузки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123" y="4631944"/>
            <a:ext cx="2471851" cy="361637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Проверяется в пилоте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8143" y="3685031"/>
            <a:ext cx="2673019" cy="2459033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8143" y="3685031"/>
            <a:ext cx="54864" cy="2459033"/>
          </a:xfrm>
          <a:prstGeom prst="rect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2735" y="3823208"/>
            <a:ext cx="2471851" cy="746486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Рыночные сигналы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2735" y="4631944"/>
            <a:ext cx="2471851" cy="361637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dirty="0" err="1">
                <a:solidFill>
                  <a:srgbClr val="142033"/>
                </a:solidFill>
                <a:latin typeface="Arial"/>
              </a:rPr>
              <a:t>Проверяется</a:t>
            </a:r>
            <a:r>
              <a:rPr sz="1600" b="0" dirty="0">
                <a:solidFill>
                  <a:srgbClr val="142033"/>
                </a:solidFill>
                <a:latin typeface="Arial"/>
              </a:rPr>
              <a:t> в </a:t>
            </a:r>
            <a:r>
              <a:rPr sz="1600" b="0" dirty="0" err="1">
                <a:solidFill>
                  <a:srgbClr val="142033"/>
                </a:solidFill>
                <a:latin typeface="Arial"/>
              </a:rPr>
              <a:t>пилоте</a:t>
            </a:r>
            <a:endParaRPr sz="1600" b="0" dirty="0">
              <a:solidFill>
                <a:srgbClr val="142033"/>
              </a:solidFill>
              <a:latin typeface="Arial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015755" y="3654551"/>
            <a:ext cx="2673019" cy="2459033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15755" y="3685031"/>
            <a:ext cx="54864" cy="2459033"/>
          </a:xfrm>
          <a:prstGeom prst="rect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0347" y="3823208"/>
            <a:ext cx="2471851" cy="410241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Контроль действий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347" y="4631944"/>
            <a:ext cx="2471851" cy="361637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dirty="0" err="1">
                <a:solidFill>
                  <a:srgbClr val="142033"/>
                </a:solidFill>
                <a:latin typeface="Arial"/>
              </a:rPr>
              <a:t>Проверяется</a:t>
            </a:r>
            <a:r>
              <a:rPr sz="1600" b="0" dirty="0">
                <a:solidFill>
                  <a:srgbClr val="142033"/>
                </a:solidFill>
                <a:latin typeface="Arial"/>
              </a:rPr>
              <a:t> в </a:t>
            </a:r>
            <a:r>
              <a:rPr sz="1600" b="0" dirty="0" err="1">
                <a:solidFill>
                  <a:srgbClr val="142033"/>
                </a:solidFill>
                <a:latin typeface="Arial"/>
              </a:rPr>
              <a:t>пилоте</a:t>
            </a:r>
            <a:endParaRPr sz="1600" b="0" dirty="0">
              <a:solidFill>
                <a:srgbClr val="142033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731520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1apart · аналитика для объектов размещения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54864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42033"/>
                </a:solidFill>
                <a:latin typeface="Arial"/>
              </a:rPr>
              <a:t>Не ещё один отчёт. А понятный план действий.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8359" y="1581912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8359" y="1581912"/>
            <a:ext cx="54864" cy="1508760"/>
          </a:xfrm>
          <a:prstGeom prst="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12951" y="1709928"/>
            <a:ext cx="2130552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1. Сигнал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2951" y="2020824"/>
            <a:ext cx="2130552" cy="10058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Растёт pickup, есть событие, цена ниже рынка.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16655" y="2221992"/>
            <a:ext cx="182880" cy="201168"/>
          </a:xfrm>
          <a:prstGeom prst="rightArrow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36111" y="1581912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36111" y="1581912"/>
            <a:ext cx="54864" cy="1508760"/>
          </a:xfrm>
          <a:prstGeom prst="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00703" y="1709928"/>
            <a:ext cx="2130552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2. Рекомендация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0703" y="2020824"/>
            <a:ext cx="2130552" cy="10058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Проверить цену конкретной категории.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04407" y="2221992"/>
            <a:ext cx="182880" cy="201168"/>
          </a:xfrm>
          <a:prstGeom prst="rightArrow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23863" y="1581912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23863" y="1581912"/>
            <a:ext cx="54864" cy="1508760"/>
          </a:xfrm>
          <a:prstGeom prst="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8455" y="1709928"/>
            <a:ext cx="2130552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3. Инструкция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8455" y="2020824"/>
            <a:ext cx="2130552" cy="10058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Пошаговые действия для менеджера.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92159" y="2221992"/>
            <a:ext cx="182880" cy="201168"/>
          </a:xfrm>
          <a:prstGeom prst="rightArrow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811615" y="1581912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11615" y="1581912"/>
            <a:ext cx="54864" cy="1508760"/>
          </a:xfrm>
          <a:prstGeom prst="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76207" y="1709928"/>
            <a:ext cx="2130552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4. Контроль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6207" y="2020824"/>
            <a:ext cx="2130552" cy="10058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Проверить результат через 24 часа.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731520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1apart · аналитика для объектов размещения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54864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42033"/>
                </a:solidFill>
                <a:latin typeface="Arial"/>
              </a:rPr>
              <a:t>Спрос можно увидеть раньше, чем он попадёт в отчёт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81912"/>
            <a:ext cx="5492343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719072"/>
            <a:ext cx="5218023" cy="36576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Прогноз на 7 / 14 / 30 / 180 дней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2084832"/>
            <a:ext cx="5218023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142033"/>
                </a:solidFill>
                <a:latin typeface="Arial"/>
              </a:rPr>
              <a:t>• загрузка;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142033"/>
                </a:solidFill>
                <a:latin typeface="Arial"/>
              </a:rPr>
              <a:t>• ADR и RevPAR;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142033"/>
                </a:solidFill>
                <a:latin typeface="Arial"/>
              </a:rPr>
              <a:t>• выручка;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142033"/>
                </a:solidFill>
                <a:latin typeface="Arial"/>
              </a:rPr>
              <a:t>• сценарии и уровень уверенности.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1764792"/>
            <a:ext cx="18288" cy="265176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97015" y="1581912"/>
            <a:ext cx="5492343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61607" y="1719072"/>
            <a:ext cx="5218023" cy="36576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3A892"/>
                </a:solidFill>
                <a:latin typeface="Arial"/>
              </a:rPr>
              <a:t>События и рынок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1607" y="2084832"/>
            <a:ext cx="5218023" cy="4572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Конференции · концерты · спорт · фестивали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633472"/>
            <a:ext cx="5218023" cy="13716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A6B7D"/>
                </a:solidFill>
                <a:latin typeface="Arial"/>
              </a:rPr>
              <a:t>Подтверждённые события помогают
заранее проверить цены и доступность.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1apart · аналитика для объектов размещения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54864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42033"/>
                </a:solidFill>
                <a:latin typeface="Arial"/>
              </a:rPr>
              <a:t>Ценность измеряется в сохранённом времени и качестве решений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81912"/>
            <a:ext cx="11185855" cy="960120"/>
          </a:xfrm>
          <a:prstGeom prst="roundRect">
            <a:avLst/>
          </a:prstGeom>
          <a:solidFill>
            <a:srgbClr val="E8F0FA"/>
          </a:solidFill>
          <a:ln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20095" cy="7772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Экономия часов в месяц =
ежедневный ручной контроль + еженедельные отчёты + поиск и сверка данных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06624"/>
            <a:ext cx="26730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2889504"/>
            <a:ext cx="2490139" cy="9144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42033"/>
                </a:solidFill>
                <a:latin typeface="Arial"/>
              </a:rPr>
              <a:t>До пилота:
___ ч/мес.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0531" y="2706624"/>
            <a:ext cx="26730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50259" y="2889504"/>
            <a:ext cx="2490139" cy="9144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42033"/>
                </a:solidFill>
                <a:latin typeface="Arial"/>
              </a:rPr>
              <a:t>После пилота:
___ ч/мес.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2706624"/>
            <a:ext cx="26730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7871" y="2889504"/>
            <a:ext cx="2490139" cy="9144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42033"/>
                </a:solidFill>
                <a:latin typeface="Arial"/>
              </a:rPr>
              <a:t>Экономия:
___ ч/мес.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15755" y="2706624"/>
            <a:ext cx="26730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25483" y="2889504"/>
            <a:ext cx="2490139" cy="9144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42033"/>
                </a:solidFill>
                <a:latin typeface="Arial"/>
              </a:rPr>
              <a:t>Эквивалент:
___ ₽/мес.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32504"/>
            <a:ext cx="11185855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B7D"/>
                </a:solidFill>
                <a:latin typeface="Arial"/>
              </a:rPr>
              <a:t>Финансовый эффект и рост выручки оцениваются отдельно по результатам пилота, без предварительных гарантий.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31520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1apart · аналитика для объектов размещения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54864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42033"/>
                </a:solidFill>
                <a:latin typeface="Arial"/>
              </a:rPr>
              <a:t>Дополнительная ценность для экосистемы TravelLine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81912"/>
            <a:ext cx="5510631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81912"/>
            <a:ext cx="54864" cy="1234440"/>
          </a:xfrm>
          <a:prstGeom prst="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709928"/>
            <a:ext cx="5309463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Понятнее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020824"/>
            <a:ext cx="5309463" cy="73152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Владелец быстрее понимает ситуацию.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8143" y="1581912"/>
            <a:ext cx="5510631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8143" y="1581912"/>
            <a:ext cx="54864" cy="1234440"/>
          </a:xfrm>
          <a:prstGeom prst="rect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42735" y="1709928"/>
            <a:ext cx="5309463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Больше регулярности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2735" y="2020824"/>
            <a:ext cx="5309463" cy="73152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Показатели превращаются в рабочие решения.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80944"/>
            <a:ext cx="5510631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980944"/>
            <a:ext cx="54864" cy="1234440"/>
          </a:xfrm>
          <a:prstGeom prst="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3108960"/>
            <a:ext cx="5309463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Новый продуктовый слой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419856"/>
            <a:ext cx="5309463" cy="73152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Возможный add-on или marketplace-интеграция.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2980944"/>
            <a:ext cx="5510631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8143" y="2980944"/>
            <a:ext cx="54864" cy="1234440"/>
          </a:xfrm>
          <a:prstGeom prst="rect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2735" y="3108960"/>
            <a:ext cx="5309463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Проверяемая гипотеза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2735" y="3419856"/>
            <a:ext cx="5309463" cy="73152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Ценность подтверждается пилотом, а не обещанием.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1apart · аналитика для объектов размещения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54864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42033"/>
                </a:solidFill>
                <a:latin typeface="Arial"/>
              </a:rPr>
              <a:t>Начать можно с вебинара для клиентов TravelLine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81912"/>
            <a:ext cx="267301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2490139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246BCE"/>
                </a:solidFill>
                <a:latin typeface="Arial"/>
              </a:rPr>
              <a:t>10 мин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2490139" cy="50292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проблема владельца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94227" y="1993392"/>
            <a:ext cx="164592" cy="201168"/>
          </a:xfrm>
          <a:prstGeom prst="rightArrow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40531" y="1581912"/>
            <a:ext cx="267301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31971" y="1691640"/>
            <a:ext cx="2490139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246BCE"/>
                </a:solidFill>
                <a:latin typeface="Arial"/>
              </a:rPr>
              <a:t>15 мин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1971" y="2057400"/>
            <a:ext cx="2490139" cy="50292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демонстрация сценариев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31839" y="1993392"/>
            <a:ext cx="164592" cy="201168"/>
          </a:xfrm>
          <a:prstGeom prst="rightArrow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8143" y="1581912"/>
            <a:ext cx="267301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9583" y="1691640"/>
            <a:ext cx="2490139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246BCE"/>
                </a:solidFill>
                <a:latin typeface="Arial"/>
              </a:rPr>
              <a:t>10 мин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9583" y="2057400"/>
            <a:ext cx="2490139" cy="50292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прогноз и рекомендации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69451" y="1993392"/>
            <a:ext cx="164592" cy="201168"/>
          </a:xfrm>
          <a:prstGeom prst="rightArrow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015755" y="1581912"/>
            <a:ext cx="267301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07195" y="1691640"/>
            <a:ext cx="2490139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246BCE"/>
                </a:solidFill>
                <a:latin typeface="Arial"/>
              </a:rPr>
              <a:t>10 мин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195" y="2057400"/>
            <a:ext cx="2490139" cy="50292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вопросы и заявка в пилот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889504"/>
            <a:ext cx="11185855" cy="1417320"/>
          </a:xfrm>
          <a:prstGeom prst="roundRect">
            <a:avLst/>
          </a:prstGeom>
          <a:solidFill>
            <a:srgbClr val="E8F8F4"/>
          </a:solidFill>
          <a:ln>
            <a:solidFill>
              <a:srgbClr val="13A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2999232"/>
            <a:ext cx="1371600" cy="27432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3A892"/>
                </a:solidFill>
                <a:latin typeface="Arial"/>
              </a:rPr>
              <a:t>Цели: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300984"/>
            <a:ext cx="1085667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142033"/>
                </a:solidFill>
                <a:latin typeface="Arial"/>
              </a:rPr>
              <a:t>• проверить интерес;  • собрать заявки в пилот;  • измерить текущие трудозатраты;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142033"/>
                </a:solidFill>
                <a:latin typeface="Arial"/>
              </a:rPr>
              <a:t>• узнать готовность платить;  • определить востребованные функции.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731520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1apart · аналитика для объектов размещения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54864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42033"/>
                </a:solidFill>
                <a:latin typeface="Arial"/>
              </a:rPr>
              <a:t>Контролируемый пилот вместо большого риска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81912"/>
            <a:ext cx="111858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746504"/>
            <a:ext cx="2011680" cy="65836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TravelLine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1746504"/>
            <a:ext cx="8716975" cy="65836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согласование API и подбор пилотных объектов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04872"/>
            <a:ext cx="111858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569464"/>
            <a:ext cx="2011680" cy="65836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Разработчик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569464"/>
            <a:ext cx="8716975" cy="65836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настройка, поддержка, аналитика результатов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27832"/>
            <a:ext cx="111858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92424"/>
            <a:ext cx="2011680" cy="65836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Объект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392424"/>
            <a:ext cx="8716975" cy="65836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доступ к данным и обратная связь менеджера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96512"/>
            <a:ext cx="11185855" cy="1527048"/>
          </a:xfrm>
          <a:prstGeom prst="roundRect">
            <a:avLst/>
          </a:prstGeom>
          <a:solidFill>
            <a:srgbClr val="E8F0FA"/>
          </a:solidFill>
          <a:ln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67512" y="4233672"/>
            <a:ext cx="10856671" cy="1082732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dirty="0" err="1">
                <a:solidFill>
                  <a:srgbClr val="246BCE"/>
                </a:solidFill>
                <a:latin typeface="Arial"/>
              </a:rPr>
              <a:t>Результат</a:t>
            </a:r>
            <a:r>
              <a:rPr sz="1900" b="1" dirty="0">
                <a:solidFill>
                  <a:srgbClr val="246BCE"/>
                </a:solidFill>
                <a:latin typeface="Arial"/>
              </a:rPr>
              <a:t> </a:t>
            </a:r>
            <a:r>
              <a:rPr sz="1900" b="1" dirty="0" err="1">
                <a:solidFill>
                  <a:srgbClr val="246BCE"/>
                </a:solidFill>
                <a:latin typeface="Arial"/>
              </a:rPr>
              <a:t>пилота</a:t>
            </a:r>
            <a:r>
              <a:rPr sz="1900" b="1" dirty="0">
                <a:solidFill>
                  <a:srgbClr val="246BCE"/>
                </a:solidFill>
                <a:latin typeface="Arial"/>
              </a:rPr>
              <a:t>: </a:t>
            </a:r>
            <a:endParaRPr lang="en-US" sz="1900" b="1" dirty="0">
              <a:solidFill>
                <a:srgbClr val="246BCE"/>
              </a:solidFill>
              <a:latin typeface="Arial"/>
            </a:endParaRPr>
          </a:p>
          <a:p>
            <a:pPr algn="ctr">
              <a:lnSpc>
                <a:spcPct val="115000"/>
              </a:lnSpc>
            </a:pPr>
            <a:r>
              <a:rPr sz="1900" b="1" dirty="0" err="1">
                <a:solidFill>
                  <a:srgbClr val="246BCE"/>
                </a:solidFill>
                <a:latin typeface="Arial"/>
              </a:rPr>
              <a:t>подтверждённая</a:t>
            </a:r>
            <a:r>
              <a:rPr sz="1900" b="1" dirty="0">
                <a:solidFill>
                  <a:srgbClr val="246BCE"/>
                </a:solidFill>
                <a:latin typeface="Arial"/>
              </a:rPr>
              <a:t> </a:t>
            </a:r>
            <a:r>
              <a:rPr sz="1900" b="1" dirty="0" err="1">
                <a:solidFill>
                  <a:srgbClr val="246BCE"/>
                </a:solidFill>
                <a:latin typeface="Arial"/>
              </a:rPr>
              <a:t>ценность</a:t>
            </a:r>
            <a:r>
              <a:rPr sz="1900" b="1" dirty="0">
                <a:solidFill>
                  <a:srgbClr val="246BCE"/>
                </a:solidFill>
                <a:latin typeface="Arial"/>
              </a:rPr>
              <a:t>, </a:t>
            </a:r>
            <a:r>
              <a:rPr sz="1900" b="1" dirty="0" err="1">
                <a:solidFill>
                  <a:srgbClr val="246BCE"/>
                </a:solidFill>
                <a:latin typeface="Arial"/>
              </a:rPr>
              <a:t>спрос</a:t>
            </a:r>
            <a:r>
              <a:rPr sz="1900" b="1" dirty="0">
                <a:solidFill>
                  <a:srgbClr val="246BCE"/>
                </a:solidFill>
                <a:latin typeface="Arial"/>
              </a:rPr>
              <a:t>, </a:t>
            </a:r>
            <a:endParaRPr lang="en-US" sz="1900" b="1" dirty="0">
              <a:solidFill>
                <a:srgbClr val="246BCE"/>
              </a:solidFill>
              <a:latin typeface="Arial"/>
            </a:endParaRPr>
          </a:p>
          <a:p>
            <a:pPr algn="ctr">
              <a:lnSpc>
                <a:spcPct val="115000"/>
              </a:lnSpc>
            </a:pPr>
            <a:r>
              <a:rPr sz="1900" b="1" dirty="0" err="1">
                <a:solidFill>
                  <a:srgbClr val="246BCE"/>
                </a:solidFill>
                <a:latin typeface="Arial"/>
              </a:rPr>
              <a:t>экономика</a:t>
            </a:r>
            <a:r>
              <a:rPr sz="1900" b="1" dirty="0">
                <a:solidFill>
                  <a:srgbClr val="246BCE"/>
                </a:solidFill>
                <a:latin typeface="Arial"/>
              </a:rPr>
              <a:t> и </a:t>
            </a:r>
            <a:r>
              <a:rPr sz="1900" b="1" dirty="0" err="1">
                <a:solidFill>
                  <a:srgbClr val="246BCE"/>
                </a:solidFill>
                <a:latin typeface="Arial"/>
              </a:rPr>
              <a:t>модель</a:t>
            </a:r>
            <a:r>
              <a:rPr sz="1900" b="1" dirty="0">
                <a:solidFill>
                  <a:srgbClr val="246BCE"/>
                </a:solidFill>
                <a:latin typeface="Arial"/>
              </a:rPr>
              <a:t> </a:t>
            </a:r>
            <a:r>
              <a:rPr sz="1900" b="1" dirty="0" err="1">
                <a:solidFill>
                  <a:srgbClr val="246BCE"/>
                </a:solidFill>
                <a:latin typeface="Arial"/>
              </a:rPr>
              <a:t>масштабирования</a:t>
            </a:r>
            <a:r>
              <a:rPr sz="1900" b="1" dirty="0">
                <a:solidFill>
                  <a:srgbClr val="246BCE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31520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1apart · аналитика для объектов размещения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54864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42033"/>
                </a:solidFill>
                <a:latin typeface="Arial"/>
              </a:rPr>
              <a:t>От пилота — к долгосрочному продукту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81912"/>
            <a:ext cx="361889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81912"/>
            <a:ext cx="54864" cy="1600200"/>
          </a:xfrm>
          <a:prstGeom prst="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709928"/>
            <a:ext cx="3417722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1. Пилот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020824"/>
            <a:ext cx="3417722" cy="10972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Проверка сценариев и спроса.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40098" y="2267712"/>
            <a:ext cx="164592" cy="201168"/>
          </a:xfrm>
          <a:prstGeom prst="rightArrow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86402" y="1581912"/>
            <a:ext cx="361889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86402" y="1581912"/>
            <a:ext cx="54864" cy="1600200"/>
          </a:xfrm>
          <a:prstGeom prst="rect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0994" y="1709928"/>
            <a:ext cx="3417722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2. Продукт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994" y="2020824"/>
            <a:ext cx="3417722" cy="10972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Дополнительный модуль или marketplace-интеграция.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23580" y="2267712"/>
            <a:ext cx="164592" cy="201168"/>
          </a:xfrm>
          <a:prstGeom prst="rightArrow">
            <a:avLst/>
          </a:prstGeom>
          <a:solidFill>
            <a:srgbClr val="13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69884" y="1581912"/>
            <a:ext cx="361889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69884" y="1581912"/>
            <a:ext cx="54864" cy="1600200"/>
          </a:xfrm>
          <a:prstGeom prst="rect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34476" y="1709928"/>
            <a:ext cx="3417722" cy="3200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3. Масштабирование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4476" y="2020824"/>
            <a:ext cx="3417722" cy="10972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Совместное предложение для сегментов клиентов TravelLine.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38144"/>
            <a:ext cx="11185855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A6B7D"/>
                </a:solidFill>
                <a:latin typeface="Arial"/>
              </a:rPr>
              <a:t>Возможные модели: лицензирование · add-on · revenue share · совместное внедрение.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1apart · аналитика для объектов размещения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54864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1185855" cy="77724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42033"/>
                </a:solidFill>
                <a:latin typeface="Arial"/>
              </a:rPr>
              <a:t>План на 90 дней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81912"/>
            <a:ext cx="361889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1719072"/>
            <a:ext cx="411480" cy="411480"/>
          </a:xfrm>
          <a:prstGeom prst="ellipse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46504"/>
            <a:ext cx="411480" cy="36576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3344570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0–30 дней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79192"/>
            <a:ext cx="3344570" cy="9144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Согласование, вебинар, набор пилотных объектов.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6402" y="1581912"/>
            <a:ext cx="361889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423562" y="1719072"/>
            <a:ext cx="411480" cy="411480"/>
          </a:xfrm>
          <a:prstGeom prst="ellipse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23562" y="1746504"/>
            <a:ext cx="411480" cy="36576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3562" y="2240280"/>
            <a:ext cx="3344570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31–60 дней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3562" y="2679192"/>
            <a:ext cx="3344570" cy="9144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Подключение, baseline показателей, обучение.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9884" y="1581912"/>
            <a:ext cx="361889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07044" y="1719072"/>
            <a:ext cx="411480" cy="411480"/>
          </a:xfrm>
          <a:prstGeom prst="ellipse">
            <a:avLst/>
          </a:prstGeom>
          <a:solidFill>
            <a:srgbClr val="246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7044" y="1746504"/>
            <a:ext cx="411480" cy="36576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7044" y="2240280"/>
            <a:ext cx="3344570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46BCE"/>
                </a:solidFill>
                <a:latin typeface="Arial"/>
              </a:rPr>
              <a:t>61–90 дней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7044" y="2679192"/>
            <a:ext cx="3344570" cy="9144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2033"/>
                </a:solidFill>
                <a:latin typeface="Arial"/>
              </a:rPr>
              <a:t>Измерение результата, анализ спроса и решение о масштабировании.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1apart · аналитика для объектов размещения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54864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051560"/>
            <a:ext cx="11185855" cy="82296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Предлагаем проверить ценность вместе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965960"/>
            <a:ext cx="11185855" cy="128016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A8B8C8"/>
                </a:solidFill>
                <a:latin typeface="Arial"/>
              </a:rPr>
              <a:t>Не просто показать отчёт,
а измерить, помогает ли решение
владельцу быстрее действовать по данным.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11185855" cy="6400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3A892"/>
                </a:solidFill>
                <a:latin typeface="Arial"/>
              </a:rPr>
              <a:t>Следующий шаг:
встреча для согласования вебинара и пилота.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92040"/>
            <a:ext cx="11185855" cy="4114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Сергей Богдановский · bogdanchik2@yandex.ru · +7 909 195-04-08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8B8C8"/>
                </a:solidFill>
                <a:latin typeface="Arial"/>
              </a:rPr>
              <a:t>1apart · аналитика для объектов размещения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48640" cy="1828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8B8C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977</Words>
  <Application>Microsoft Office PowerPoint</Application>
  <PresentationFormat>Широкоэкранный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Сергей</cp:lastModifiedBy>
  <cp:revision>3</cp:revision>
  <dcterms:created xsi:type="dcterms:W3CDTF">2013-01-27T09:14:16Z</dcterms:created>
  <dcterms:modified xsi:type="dcterms:W3CDTF">2026-07-22T09:35:40Z</dcterms:modified>
  <cp:category/>
</cp:coreProperties>
</file>